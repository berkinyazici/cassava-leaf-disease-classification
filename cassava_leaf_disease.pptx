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140" r:id="rId1"/>
  </p:sldMasterIdLst>
  <p:notesMasterIdLst>
    <p:notesMasterId r:id="rId16"/>
  </p:notesMasterIdLst>
  <p:handoutMasterIdLst>
    <p:handoutMasterId r:id="rId17"/>
  </p:handoutMasterIdLst>
  <p:sldIdLst>
    <p:sldId id="298" r:id="rId2"/>
    <p:sldId id="285" r:id="rId3"/>
    <p:sldId id="304" r:id="rId4"/>
    <p:sldId id="307" r:id="rId5"/>
    <p:sldId id="308" r:id="rId6"/>
    <p:sldId id="306" r:id="rId7"/>
    <p:sldId id="312" r:id="rId8"/>
    <p:sldId id="299" r:id="rId9"/>
    <p:sldId id="310" r:id="rId10"/>
    <p:sldId id="309" r:id="rId11"/>
    <p:sldId id="311" r:id="rId12"/>
    <p:sldId id="300" r:id="rId13"/>
    <p:sldId id="301" r:id="rId14"/>
    <p:sldId id="303"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275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881"/>
    <p:restoredTop sz="94694"/>
  </p:normalViewPr>
  <p:slideViewPr>
    <p:cSldViewPr snapToGrid="0" snapToObjects="1">
      <p:cViewPr varScale="1">
        <p:scale>
          <a:sx n="105" d="100"/>
          <a:sy n="105" d="100"/>
        </p:scale>
        <p:origin x="438" y="96"/>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99" d="100"/>
          <a:sy n="99" d="100"/>
        </p:scale>
        <p:origin x="4272" y="1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a:extLst>
              <a:ext uri="{FF2B5EF4-FFF2-40B4-BE49-F238E27FC236}">
                <a16:creationId xmlns:a16="http://schemas.microsoft.com/office/drawing/2014/main" id="{1E5FF1B3-8F25-8E58-4BFA-0EB8A6E5E8E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Veri Yer Tutucusu 2">
            <a:extLst>
              <a:ext uri="{FF2B5EF4-FFF2-40B4-BE49-F238E27FC236}">
                <a16:creationId xmlns:a16="http://schemas.microsoft.com/office/drawing/2014/main" id="{70A23DBB-8436-AA6A-5BB3-596A54770AD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E0C8B23-8598-8048-98D2-77B1E720DCD8}" type="datetimeFigureOut">
              <a:rPr lang="tr-TR" smtClean="0"/>
              <a:t>14.01.2025</a:t>
            </a:fld>
            <a:endParaRPr lang="tr-TR"/>
          </a:p>
        </p:txBody>
      </p:sp>
      <p:sp>
        <p:nvSpPr>
          <p:cNvPr id="4" name="Alt Bilgi Yer Tutucusu 3">
            <a:extLst>
              <a:ext uri="{FF2B5EF4-FFF2-40B4-BE49-F238E27FC236}">
                <a16:creationId xmlns:a16="http://schemas.microsoft.com/office/drawing/2014/main" id="{25049CFA-2B2C-3239-B265-3C8BFD1E24C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5" name="Slayt Numarası Yer Tutucusu 4">
            <a:extLst>
              <a:ext uri="{FF2B5EF4-FFF2-40B4-BE49-F238E27FC236}">
                <a16:creationId xmlns:a16="http://schemas.microsoft.com/office/drawing/2014/main" id="{08243CB8-F62E-1476-EB99-46B88B7CE18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8DF8DEA-B0DB-2F48-BAFC-F02721F1706D}" type="slidenum">
              <a:rPr lang="tr-TR" smtClean="0"/>
              <a:t>‹#›</a:t>
            </a:fld>
            <a:endParaRPr lang="tr-TR"/>
          </a:p>
        </p:txBody>
      </p:sp>
    </p:spTree>
    <p:extLst>
      <p:ext uri="{BB962C8B-B14F-4D97-AF65-F5344CB8AC3E}">
        <p14:creationId xmlns:p14="http://schemas.microsoft.com/office/powerpoint/2010/main" val="2099314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08C551-22FF-4CB8-B8F2-5188D8B377D2}" type="datetimeFigureOut">
              <a:rPr lang="tr-TR" smtClean="0"/>
              <a:t>14.01.2025</a:t>
            </a:fld>
            <a:endParaRPr lang="tr-TR"/>
          </a:p>
        </p:txBody>
      </p:sp>
      <p:sp>
        <p:nvSpPr>
          <p:cNvPr id="4" name="Slayt Görüntüsü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p>
        </p:txBody>
      </p:sp>
      <p:sp>
        <p:nvSpPr>
          <p:cNvPr id="6" name="Alt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9A691B-61CC-4BE4-AE7E-A966C5B1D842}" type="slidenum">
              <a:rPr lang="tr-TR" smtClean="0"/>
              <a:t>‹#›</a:t>
            </a:fld>
            <a:endParaRPr lang="tr-TR"/>
          </a:p>
        </p:txBody>
      </p:sp>
    </p:spTree>
    <p:extLst>
      <p:ext uri="{BB962C8B-B14F-4D97-AF65-F5344CB8AC3E}">
        <p14:creationId xmlns:p14="http://schemas.microsoft.com/office/powerpoint/2010/main" val="3759912546"/>
      </p:ext>
    </p:extLst>
  </p:cSld>
  <p:clrMap bg1="lt1" tx1="dk1" bg2="lt2" tx2="dk2" accent1="accent1" accent2="accent2" accent3="accent3" accent4="accent4" accent5="accent5" accent6="accent6" hlink="hlink" folHlink="folHlink"/>
  <p:notesStyle>
    <a:lvl1pPr marL="0" algn="l" defTabSz="610088" rtl="0" eaLnBrk="1" latinLnBrk="0" hangingPunct="1">
      <a:defRPr sz="801" kern="1200">
        <a:solidFill>
          <a:schemeClr val="tx1"/>
        </a:solidFill>
        <a:latin typeface="+mn-lt"/>
        <a:ea typeface="+mn-ea"/>
        <a:cs typeface="+mn-cs"/>
      </a:defRPr>
    </a:lvl1pPr>
    <a:lvl2pPr marL="305044" algn="l" defTabSz="610088" rtl="0" eaLnBrk="1" latinLnBrk="0" hangingPunct="1">
      <a:defRPr sz="801" kern="1200">
        <a:solidFill>
          <a:schemeClr val="tx1"/>
        </a:solidFill>
        <a:latin typeface="+mn-lt"/>
        <a:ea typeface="+mn-ea"/>
        <a:cs typeface="+mn-cs"/>
      </a:defRPr>
    </a:lvl2pPr>
    <a:lvl3pPr marL="610088" algn="l" defTabSz="610088" rtl="0" eaLnBrk="1" latinLnBrk="0" hangingPunct="1">
      <a:defRPr sz="801" kern="1200">
        <a:solidFill>
          <a:schemeClr val="tx1"/>
        </a:solidFill>
        <a:latin typeface="+mn-lt"/>
        <a:ea typeface="+mn-ea"/>
        <a:cs typeface="+mn-cs"/>
      </a:defRPr>
    </a:lvl3pPr>
    <a:lvl4pPr marL="915132" algn="l" defTabSz="610088" rtl="0" eaLnBrk="1" latinLnBrk="0" hangingPunct="1">
      <a:defRPr sz="801" kern="1200">
        <a:solidFill>
          <a:schemeClr val="tx1"/>
        </a:solidFill>
        <a:latin typeface="+mn-lt"/>
        <a:ea typeface="+mn-ea"/>
        <a:cs typeface="+mn-cs"/>
      </a:defRPr>
    </a:lvl4pPr>
    <a:lvl5pPr marL="1220175" algn="l" defTabSz="610088" rtl="0" eaLnBrk="1" latinLnBrk="0" hangingPunct="1">
      <a:defRPr sz="801" kern="1200">
        <a:solidFill>
          <a:schemeClr val="tx1"/>
        </a:solidFill>
        <a:latin typeface="+mn-lt"/>
        <a:ea typeface="+mn-ea"/>
        <a:cs typeface="+mn-cs"/>
      </a:defRPr>
    </a:lvl5pPr>
    <a:lvl6pPr marL="1525219" algn="l" defTabSz="610088" rtl="0" eaLnBrk="1" latinLnBrk="0" hangingPunct="1">
      <a:defRPr sz="801" kern="1200">
        <a:solidFill>
          <a:schemeClr val="tx1"/>
        </a:solidFill>
        <a:latin typeface="+mn-lt"/>
        <a:ea typeface="+mn-ea"/>
        <a:cs typeface="+mn-cs"/>
      </a:defRPr>
    </a:lvl6pPr>
    <a:lvl7pPr marL="1830263" algn="l" defTabSz="610088" rtl="0" eaLnBrk="1" latinLnBrk="0" hangingPunct="1">
      <a:defRPr sz="801" kern="1200">
        <a:solidFill>
          <a:schemeClr val="tx1"/>
        </a:solidFill>
        <a:latin typeface="+mn-lt"/>
        <a:ea typeface="+mn-ea"/>
        <a:cs typeface="+mn-cs"/>
      </a:defRPr>
    </a:lvl7pPr>
    <a:lvl8pPr marL="2135307" algn="l" defTabSz="610088" rtl="0" eaLnBrk="1" latinLnBrk="0" hangingPunct="1">
      <a:defRPr sz="801" kern="1200">
        <a:solidFill>
          <a:schemeClr val="tx1"/>
        </a:solidFill>
        <a:latin typeface="+mn-lt"/>
        <a:ea typeface="+mn-ea"/>
        <a:cs typeface="+mn-cs"/>
      </a:defRPr>
    </a:lvl8pPr>
    <a:lvl9pPr marL="2440351" algn="l" defTabSz="610088" rtl="0" eaLnBrk="1" latinLnBrk="0" hangingPunct="1">
      <a:defRPr sz="801"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aşlık Slaydı">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274A47F-A299-DF43-A839-C104F09B14F8}"/>
              </a:ext>
            </a:extLst>
          </p:cNvPr>
          <p:cNvPicPr>
            <a:picLocks noChangeAspect="1"/>
          </p:cNvPicPr>
          <p:nvPr userDrawn="1"/>
        </p:nvPicPr>
        <p:blipFill>
          <a:blip r:embed="rId2"/>
          <a:stretch>
            <a:fillRect/>
          </a:stretch>
        </p:blipFill>
        <p:spPr>
          <a:xfrm>
            <a:off x="5077238" y="781312"/>
            <a:ext cx="2037523" cy="1145473"/>
          </a:xfrm>
          <a:prstGeom prst="rect">
            <a:avLst/>
          </a:prstGeom>
        </p:spPr>
      </p:pic>
    </p:spTree>
    <p:extLst>
      <p:ext uri="{BB962C8B-B14F-4D97-AF65-F5344CB8AC3E}">
        <p14:creationId xmlns:p14="http://schemas.microsoft.com/office/powerpoint/2010/main" val="357362977"/>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ki İçerik">
    <p:spTree>
      <p:nvGrpSpPr>
        <p:cNvPr id="1" name=""/>
        <p:cNvGrpSpPr/>
        <p:nvPr/>
      </p:nvGrpSpPr>
      <p:grpSpPr>
        <a:xfrm>
          <a:off x="0" y="0"/>
          <a:ext cx="0" cy="0"/>
          <a:chOff x="0" y="0"/>
          <a:chExt cx="0" cy="0"/>
        </a:xfrm>
      </p:grpSpPr>
      <p:sp>
        <p:nvSpPr>
          <p:cNvPr id="9" name="Serbest Form: Şekil 12">
            <a:extLst>
              <a:ext uri="{FF2B5EF4-FFF2-40B4-BE49-F238E27FC236}">
                <a16:creationId xmlns:a16="http://schemas.microsoft.com/office/drawing/2014/main" id="{248D3615-3F51-DDA0-300A-8B54E9526CEC}"/>
              </a:ext>
            </a:extLst>
          </p:cNvPr>
          <p:cNvSpPr/>
          <p:nvPr userDrawn="1"/>
        </p:nvSpPr>
        <p:spPr>
          <a:xfrm>
            <a:off x="7474621" y="474917"/>
            <a:ext cx="4926227" cy="511047"/>
          </a:xfrm>
          <a:custGeom>
            <a:avLst/>
            <a:gdLst>
              <a:gd name="connsiteX0" fmla="*/ 137921 w 4038600"/>
              <a:gd name="connsiteY0" fmla="*/ 0 h 511047"/>
              <a:gd name="connsiteX1" fmla="*/ 4038600 w 4038600"/>
              <a:gd name="connsiteY1" fmla="*/ 0 h 511047"/>
              <a:gd name="connsiteX2" fmla="*/ 4038600 w 4038600"/>
              <a:gd name="connsiteY2" fmla="*/ 511047 h 511047"/>
              <a:gd name="connsiteX3" fmla="*/ 137921 w 4038600"/>
              <a:gd name="connsiteY3" fmla="*/ 511047 h 511047"/>
              <a:gd name="connsiteX4" fmla="*/ 0 w 4038600"/>
              <a:gd name="connsiteY4" fmla="*/ 255524 h 511047"/>
              <a:gd name="connsiteX5" fmla="*/ 137921 w 4038600"/>
              <a:gd name="connsiteY5" fmla="*/ 0 h 511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38600" h="511047">
                <a:moveTo>
                  <a:pt x="137921" y="0"/>
                </a:moveTo>
                <a:lnTo>
                  <a:pt x="4038600" y="0"/>
                </a:lnTo>
                <a:lnTo>
                  <a:pt x="4038600" y="511047"/>
                </a:lnTo>
                <a:lnTo>
                  <a:pt x="137921" y="511047"/>
                </a:lnTo>
                <a:lnTo>
                  <a:pt x="0" y="255524"/>
                </a:lnTo>
                <a:lnTo>
                  <a:pt x="137921" y="0"/>
                </a:lnTo>
                <a:close/>
              </a:path>
            </a:pathLst>
          </a:custGeom>
          <a:solidFill>
            <a:srgbClr val="01285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tr-TR" dirty="0"/>
          </a:p>
        </p:txBody>
      </p:sp>
      <p:pic>
        <p:nvPicPr>
          <p:cNvPr id="3" name="Picture 2">
            <a:extLst>
              <a:ext uri="{FF2B5EF4-FFF2-40B4-BE49-F238E27FC236}">
                <a16:creationId xmlns:a16="http://schemas.microsoft.com/office/drawing/2014/main" id="{7A5E1486-EEE5-8693-C1E0-ACEC5AFA306D}"/>
              </a:ext>
            </a:extLst>
          </p:cNvPr>
          <p:cNvPicPr>
            <a:picLocks noChangeAspect="1"/>
          </p:cNvPicPr>
          <p:nvPr userDrawn="1"/>
        </p:nvPicPr>
        <p:blipFill>
          <a:blip r:embed="rId2"/>
          <a:stretch>
            <a:fillRect/>
          </a:stretch>
        </p:blipFill>
        <p:spPr>
          <a:xfrm>
            <a:off x="352837" y="337905"/>
            <a:ext cx="1396449" cy="785068"/>
          </a:xfrm>
          <a:prstGeom prst="rect">
            <a:avLst/>
          </a:prstGeom>
        </p:spPr>
      </p:pic>
    </p:spTree>
    <p:extLst>
      <p:ext uri="{BB962C8B-B14F-4D97-AF65-F5344CB8AC3E}">
        <p14:creationId xmlns:p14="http://schemas.microsoft.com/office/powerpoint/2010/main" val="3581235131"/>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key Başlık ve Metin">
    <p:spTree>
      <p:nvGrpSpPr>
        <p:cNvPr id="1" name=""/>
        <p:cNvGrpSpPr/>
        <p:nvPr/>
      </p:nvGrpSpPr>
      <p:grpSpPr>
        <a:xfrm>
          <a:off x="0" y="0"/>
          <a:ext cx="0" cy="0"/>
          <a:chOff x="0" y="0"/>
          <a:chExt cx="0" cy="0"/>
        </a:xfrm>
      </p:grpSpPr>
      <p:sp>
        <p:nvSpPr>
          <p:cNvPr id="8" name="Serbest Form: Şekil 12">
            <a:extLst>
              <a:ext uri="{FF2B5EF4-FFF2-40B4-BE49-F238E27FC236}">
                <a16:creationId xmlns:a16="http://schemas.microsoft.com/office/drawing/2014/main" id="{DBF10744-F389-0340-3BC7-35F3D211563F}"/>
              </a:ext>
            </a:extLst>
          </p:cNvPr>
          <p:cNvSpPr/>
          <p:nvPr userDrawn="1"/>
        </p:nvSpPr>
        <p:spPr>
          <a:xfrm>
            <a:off x="7474621" y="474917"/>
            <a:ext cx="4926227" cy="511047"/>
          </a:xfrm>
          <a:custGeom>
            <a:avLst/>
            <a:gdLst>
              <a:gd name="connsiteX0" fmla="*/ 137921 w 4038600"/>
              <a:gd name="connsiteY0" fmla="*/ 0 h 511047"/>
              <a:gd name="connsiteX1" fmla="*/ 4038600 w 4038600"/>
              <a:gd name="connsiteY1" fmla="*/ 0 h 511047"/>
              <a:gd name="connsiteX2" fmla="*/ 4038600 w 4038600"/>
              <a:gd name="connsiteY2" fmla="*/ 511047 h 511047"/>
              <a:gd name="connsiteX3" fmla="*/ 137921 w 4038600"/>
              <a:gd name="connsiteY3" fmla="*/ 511047 h 511047"/>
              <a:gd name="connsiteX4" fmla="*/ 0 w 4038600"/>
              <a:gd name="connsiteY4" fmla="*/ 255524 h 511047"/>
              <a:gd name="connsiteX5" fmla="*/ 137921 w 4038600"/>
              <a:gd name="connsiteY5" fmla="*/ 0 h 511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38600" h="511047">
                <a:moveTo>
                  <a:pt x="137921" y="0"/>
                </a:moveTo>
                <a:lnTo>
                  <a:pt x="4038600" y="0"/>
                </a:lnTo>
                <a:lnTo>
                  <a:pt x="4038600" y="511047"/>
                </a:lnTo>
                <a:lnTo>
                  <a:pt x="137921" y="511047"/>
                </a:lnTo>
                <a:lnTo>
                  <a:pt x="0" y="255524"/>
                </a:lnTo>
                <a:lnTo>
                  <a:pt x="137921" y="0"/>
                </a:lnTo>
                <a:close/>
              </a:path>
            </a:pathLst>
          </a:custGeom>
          <a:solidFill>
            <a:srgbClr val="01285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tr-TR" dirty="0"/>
          </a:p>
        </p:txBody>
      </p:sp>
      <p:pic>
        <p:nvPicPr>
          <p:cNvPr id="3" name="Picture 2">
            <a:extLst>
              <a:ext uri="{FF2B5EF4-FFF2-40B4-BE49-F238E27FC236}">
                <a16:creationId xmlns:a16="http://schemas.microsoft.com/office/drawing/2014/main" id="{726B8AE1-698D-7C6C-031B-6C777DA6ABA2}"/>
              </a:ext>
            </a:extLst>
          </p:cNvPr>
          <p:cNvPicPr>
            <a:picLocks noChangeAspect="1"/>
          </p:cNvPicPr>
          <p:nvPr userDrawn="1"/>
        </p:nvPicPr>
        <p:blipFill>
          <a:blip r:embed="rId2"/>
          <a:stretch>
            <a:fillRect/>
          </a:stretch>
        </p:blipFill>
        <p:spPr>
          <a:xfrm>
            <a:off x="352837" y="337905"/>
            <a:ext cx="1396449" cy="785068"/>
          </a:xfrm>
          <a:prstGeom prst="rect">
            <a:avLst/>
          </a:prstGeom>
        </p:spPr>
      </p:pic>
    </p:spTree>
    <p:extLst>
      <p:ext uri="{BB962C8B-B14F-4D97-AF65-F5344CB8AC3E}">
        <p14:creationId xmlns:p14="http://schemas.microsoft.com/office/powerpoint/2010/main" val="453285668"/>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Yalnızca Başlık">
    <p:spTree>
      <p:nvGrpSpPr>
        <p:cNvPr id="1" name=""/>
        <p:cNvGrpSpPr/>
        <p:nvPr/>
      </p:nvGrpSpPr>
      <p:grpSpPr>
        <a:xfrm>
          <a:off x="0" y="0"/>
          <a:ext cx="0" cy="0"/>
          <a:chOff x="0" y="0"/>
          <a:chExt cx="0" cy="0"/>
        </a:xfrm>
      </p:grpSpPr>
      <p:sp>
        <p:nvSpPr>
          <p:cNvPr id="7" name="Serbest Form: Şekil 12">
            <a:extLst>
              <a:ext uri="{FF2B5EF4-FFF2-40B4-BE49-F238E27FC236}">
                <a16:creationId xmlns:a16="http://schemas.microsoft.com/office/drawing/2014/main" id="{A430380A-12CA-A86A-A583-C2449C2B4493}"/>
              </a:ext>
            </a:extLst>
          </p:cNvPr>
          <p:cNvSpPr/>
          <p:nvPr userDrawn="1"/>
        </p:nvSpPr>
        <p:spPr>
          <a:xfrm>
            <a:off x="7474621" y="474917"/>
            <a:ext cx="4926227" cy="511047"/>
          </a:xfrm>
          <a:custGeom>
            <a:avLst/>
            <a:gdLst>
              <a:gd name="connsiteX0" fmla="*/ 137921 w 4038600"/>
              <a:gd name="connsiteY0" fmla="*/ 0 h 511047"/>
              <a:gd name="connsiteX1" fmla="*/ 4038600 w 4038600"/>
              <a:gd name="connsiteY1" fmla="*/ 0 h 511047"/>
              <a:gd name="connsiteX2" fmla="*/ 4038600 w 4038600"/>
              <a:gd name="connsiteY2" fmla="*/ 511047 h 511047"/>
              <a:gd name="connsiteX3" fmla="*/ 137921 w 4038600"/>
              <a:gd name="connsiteY3" fmla="*/ 511047 h 511047"/>
              <a:gd name="connsiteX4" fmla="*/ 0 w 4038600"/>
              <a:gd name="connsiteY4" fmla="*/ 255524 h 511047"/>
              <a:gd name="connsiteX5" fmla="*/ 137921 w 4038600"/>
              <a:gd name="connsiteY5" fmla="*/ 0 h 511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38600" h="511047">
                <a:moveTo>
                  <a:pt x="137921" y="0"/>
                </a:moveTo>
                <a:lnTo>
                  <a:pt x="4038600" y="0"/>
                </a:lnTo>
                <a:lnTo>
                  <a:pt x="4038600" y="511047"/>
                </a:lnTo>
                <a:lnTo>
                  <a:pt x="137921" y="511047"/>
                </a:lnTo>
                <a:lnTo>
                  <a:pt x="0" y="255524"/>
                </a:lnTo>
                <a:lnTo>
                  <a:pt x="137921" y="0"/>
                </a:lnTo>
                <a:close/>
              </a:path>
            </a:pathLst>
          </a:custGeom>
          <a:solidFill>
            <a:srgbClr val="01285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tr-TR" dirty="0"/>
          </a:p>
        </p:txBody>
      </p:sp>
      <p:pic>
        <p:nvPicPr>
          <p:cNvPr id="3" name="Picture 2">
            <a:extLst>
              <a:ext uri="{FF2B5EF4-FFF2-40B4-BE49-F238E27FC236}">
                <a16:creationId xmlns:a16="http://schemas.microsoft.com/office/drawing/2014/main" id="{C5022C0E-BE2C-B3FC-347F-19994F0A4C2B}"/>
              </a:ext>
            </a:extLst>
          </p:cNvPr>
          <p:cNvPicPr>
            <a:picLocks noChangeAspect="1"/>
          </p:cNvPicPr>
          <p:nvPr userDrawn="1"/>
        </p:nvPicPr>
        <p:blipFill>
          <a:blip r:embed="rId2"/>
          <a:stretch>
            <a:fillRect/>
          </a:stretch>
        </p:blipFill>
        <p:spPr>
          <a:xfrm>
            <a:off x="352837" y="337905"/>
            <a:ext cx="1396449" cy="785068"/>
          </a:xfrm>
          <a:prstGeom prst="rect">
            <a:avLst/>
          </a:prstGeom>
        </p:spPr>
      </p:pic>
    </p:spTree>
    <p:extLst>
      <p:ext uri="{BB962C8B-B14F-4D97-AF65-F5344CB8AC3E}">
        <p14:creationId xmlns:p14="http://schemas.microsoft.com/office/powerpoint/2010/main" val="32120604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6" name="Serbest Form: Şekil 12">
            <a:extLst>
              <a:ext uri="{FF2B5EF4-FFF2-40B4-BE49-F238E27FC236}">
                <a16:creationId xmlns:a16="http://schemas.microsoft.com/office/drawing/2014/main" id="{57AE21E1-8BBC-B9D8-9C55-81A29697894B}"/>
              </a:ext>
            </a:extLst>
          </p:cNvPr>
          <p:cNvSpPr/>
          <p:nvPr userDrawn="1"/>
        </p:nvSpPr>
        <p:spPr>
          <a:xfrm>
            <a:off x="7474621" y="474917"/>
            <a:ext cx="4926227" cy="511047"/>
          </a:xfrm>
          <a:custGeom>
            <a:avLst/>
            <a:gdLst>
              <a:gd name="connsiteX0" fmla="*/ 137921 w 4038600"/>
              <a:gd name="connsiteY0" fmla="*/ 0 h 511047"/>
              <a:gd name="connsiteX1" fmla="*/ 4038600 w 4038600"/>
              <a:gd name="connsiteY1" fmla="*/ 0 h 511047"/>
              <a:gd name="connsiteX2" fmla="*/ 4038600 w 4038600"/>
              <a:gd name="connsiteY2" fmla="*/ 511047 h 511047"/>
              <a:gd name="connsiteX3" fmla="*/ 137921 w 4038600"/>
              <a:gd name="connsiteY3" fmla="*/ 511047 h 511047"/>
              <a:gd name="connsiteX4" fmla="*/ 0 w 4038600"/>
              <a:gd name="connsiteY4" fmla="*/ 255524 h 511047"/>
              <a:gd name="connsiteX5" fmla="*/ 137921 w 4038600"/>
              <a:gd name="connsiteY5" fmla="*/ 0 h 511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38600" h="511047">
                <a:moveTo>
                  <a:pt x="137921" y="0"/>
                </a:moveTo>
                <a:lnTo>
                  <a:pt x="4038600" y="0"/>
                </a:lnTo>
                <a:lnTo>
                  <a:pt x="4038600" y="511047"/>
                </a:lnTo>
                <a:lnTo>
                  <a:pt x="137921" y="511047"/>
                </a:lnTo>
                <a:lnTo>
                  <a:pt x="0" y="255524"/>
                </a:lnTo>
                <a:lnTo>
                  <a:pt x="137921" y="0"/>
                </a:lnTo>
                <a:close/>
              </a:path>
            </a:pathLst>
          </a:custGeom>
          <a:solidFill>
            <a:srgbClr val="01285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tr-TR" dirty="0"/>
          </a:p>
        </p:txBody>
      </p:sp>
      <p:pic>
        <p:nvPicPr>
          <p:cNvPr id="3" name="Picture 2">
            <a:extLst>
              <a:ext uri="{FF2B5EF4-FFF2-40B4-BE49-F238E27FC236}">
                <a16:creationId xmlns:a16="http://schemas.microsoft.com/office/drawing/2014/main" id="{9000E3A3-59A2-9E31-012C-BE3BC5BE01FC}"/>
              </a:ext>
            </a:extLst>
          </p:cNvPr>
          <p:cNvPicPr>
            <a:picLocks noChangeAspect="1"/>
          </p:cNvPicPr>
          <p:nvPr userDrawn="1"/>
        </p:nvPicPr>
        <p:blipFill>
          <a:blip r:embed="rId2"/>
          <a:stretch>
            <a:fillRect/>
          </a:stretch>
        </p:blipFill>
        <p:spPr>
          <a:xfrm>
            <a:off x="352837" y="337905"/>
            <a:ext cx="1396449" cy="785068"/>
          </a:xfrm>
          <a:prstGeom prst="rect">
            <a:avLst/>
          </a:prstGeom>
        </p:spPr>
      </p:pic>
    </p:spTree>
    <p:extLst>
      <p:ext uri="{BB962C8B-B14F-4D97-AF65-F5344CB8AC3E}">
        <p14:creationId xmlns:p14="http://schemas.microsoft.com/office/powerpoint/2010/main" val="3525307030"/>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aşlıklı İçerik">
    <p:spTree>
      <p:nvGrpSpPr>
        <p:cNvPr id="1" name=""/>
        <p:cNvGrpSpPr/>
        <p:nvPr/>
      </p:nvGrpSpPr>
      <p:grpSpPr>
        <a:xfrm>
          <a:off x="0" y="0"/>
          <a:ext cx="0" cy="0"/>
          <a:chOff x="0" y="0"/>
          <a:chExt cx="0" cy="0"/>
        </a:xfrm>
      </p:grpSpPr>
      <p:sp>
        <p:nvSpPr>
          <p:cNvPr id="9" name="Serbest Form: Şekil 12">
            <a:extLst>
              <a:ext uri="{FF2B5EF4-FFF2-40B4-BE49-F238E27FC236}">
                <a16:creationId xmlns:a16="http://schemas.microsoft.com/office/drawing/2014/main" id="{6B48B561-3DCA-064F-76D5-189BBDB9E0AD}"/>
              </a:ext>
            </a:extLst>
          </p:cNvPr>
          <p:cNvSpPr/>
          <p:nvPr userDrawn="1"/>
        </p:nvSpPr>
        <p:spPr>
          <a:xfrm>
            <a:off x="7474621" y="474917"/>
            <a:ext cx="4926227" cy="511047"/>
          </a:xfrm>
          <a:custGeom>
            <a:avLst/>
            <a:gdLst>
              <a:gd name="connsiteX0" fmla="*/ 137921 w 4038600"/>
              <a:gd name="connsiteY0" fmla="*/ 0 h 511047"/>
              <a:gd name="connsiteX1" fmla="*/ 4038600 w 4038600"/>
              <a:gd name="connsiteY1" fmla="*/ 0 h 511047"/>
              <a:gd name="connsiteX2" fmla="*/ 4038600 w 4038600"/>
              <a:gd name="connsiteY2" fmla="*/ 511047 h 511047"/>
              <a:gd name="connsiteX3" fmla="*/ 137921 w 4038600"/>
              <a:gd name="connsiteY3" fmla="*/ 511047 h 511047"/>
              <a:gd name="connsiteX4" fmla="*/ 0 w 4038600"/>
              <a:gd name="connsiteY4" fmla="*/ 255524 h 511047"/>
              <a:gd name="connsiteX5" fmla="*/ 137921 w 4038600"/>
              <a:gd name="connsiteY5" fmla="*/ 0 h 511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38600" h="511047">
                <a:moveTo>
                  <a:pt x="137921" y="0"/>
                </a:moveTo>
                <a:lnTo>
                  <a:pt x="4038600" y="0"/>
                </a:lnTo>
                <a:lnTo>
                  <a:pt x="4038600" y="511047"/>
                </a:lnTo>
                <a:lnTo>
                  <a:pt x="137921" y="511047"/>
                </a:lnTo>
                <a:lnTo>
                  <a:pt x="0" y="255524"/>
                </a:lnTo>
                <a:lnTo>
                  <a:pt x="137921" y="0"/>
                </a:lnTo>
                <a:close/>
              </a:path>
            </a:pathLst>
          </a:custGeom>
          <a:solidFill>
            <a:srgbClr val="01285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tr-TR" dirty="0"/>
          </a:p>
        </p:txBody>
      </p:sp>
      <p:pic>
        <p:nvPicPr>
          <p:cNvPr id="3" name="Picture 2">
            <a:extLst>
              <a:ext uri="{FF2B5EF4-FFF2-40B4-BE49-F238E27FC236}">
                <a16:creationId xmlns:a16="http://schemas.microsoft.com/office/drawing/2014/main" id="{72890A2D-C58B-F9FA-DB75-7B853F29061E}"/>
              </a:ext>
            </a:extLst>
          </p:cNvPr>
          <p:cNvPicPr>
            <a:picLocks noChangeAspect="1"/>
          </p:cNvPicPr>
          <p:nvPr userDrawn="1"/>
        </p:nvPicPr>
        <p:blipFill>
          <a:blip r:embed="rId2"/>
          <a:stretch>
            <a:fillRect/>
          </a:stretch>
        </p:blipFill>
        <p:spPr>
          <a:xfrm>
            <a:off x="352837" y="337905"/>
            <a:ext cx="1396449" cy="785068"/>
          </a:xfrm>
          <a:prstGeom prst="rect">
            <a:avLst/>
          </a:prstGeom>
        </p:spPr>
      </p:pic>
    </p:spTree>
    <p:extLst>
      <p:ext uri="{BB962C8B-B14F-4D97-AF65-F5344CB8AC3E}">
        <p14:creationId xmlns:p14="http://schemas.microsoft.com/office/powerpoint/2010/main" val="8381522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aşlıklı Resim">
    <p:spTree>
      <p:nvGrpSpPr>
        <p:cNvPr id="1" name=""/>
        <p:cNvGrpSpPr/>
        <p:nvPr/>
      </p:nvGrpSpPr>
      <p:grpSpPr>
        <a:xfrm>
          <a:off x="0" y="0"/>
          <a:ext cx="0" cy="0"/>
          <a:chOff x="0" y="0"/>
          <a:chExt cx="0" cy="0"/>
        </a:xfrm>
      </p:grpSpPr>
      <p:sp>
        <p:nvSpPr>
          <p:cNvPr id="2" name="Metin kutusu 1">
            <a:extLst>
              <a:ext uri="{FF2B5EF4-FFF2-40B4-BE49-F238E27FC236}">
                <a16:creationId xmlns:a16="http://schemas.microsoft.com/office/drawing/2014/main" id="{3629AEA6-C2F2-0760-B9C4-CFE242806B35}"/>
              </a:ext>
            </a:extLst>
          </p:cNvPr>
          <p:cNvSpPr txBox="1"/>
          <p:nvPr userDrawn="1"/>
        </p:nvSpPr>
        <p:spPr>
          <a:xfrm>
            <a:off x="4806439" y="6313223"/>
            <a:ext cx="2579123" cy="276999"/>
          </a:xfrm>
          <a:prstGeom prst="rect">
            <a:avLst/>
          </a:prstGeom>
          <a:noFill/>
        </p:spPr>
        <p:txBody>
          <a:bodyPr wrap="square">
            <a:spAutoFit/>
          </a:bodyPr>
          <a:lstStyle/>
          <a:p>
            <a:pPr algn="ctr"/>
            <a:r>
              <a:rPr lang="tr-TR" sz="1200" b="1" i="0" dirty="0">
                <a:solidFill>
                  <a:srgbClr val="002755"/>
                </a:solidFill>
                <a:latin typeface="Helvetica" pitchFamily="2" charset="0"/>
              </a:rPr>
              <a:t>Sunumu Hazırlayan</a:t>
            </a:r>
            <a:endParaRPr lang="tr-TR" sz="1200" b="0" i="0" dirty="0">
              <a:solidFill>
                <a:srgbClr val="002755"/>
              </a:solidFill>
              <a:latin typeface="Helvetica Light" panose="020B0403020202020204" pitchFamily="34" charset="0"/>
            </a:endParaRPr>
          </a:p>
        </p:txBody>
      </p:sp>
      <p:sp>
        <p:nvSpPr>
          <p:cNvPr id="7" name="Metin kutusu 6">
            <a:extLst>
              <a:ext uri="{FF2B5EF4-FFF2-40B4-BE49-F238E27FC236}">
                <a16:creationId xmlns:a16="http://schemas.microsoft.com/office/drawing/2014/main" id="{0FDDA638-4233-C2CB-ED58-408C37035315}"/>
              </a:ext>
            </a:extLst>
          </p:cNvPr>
          <p:cNvSpPr txBox="1"/>
          <p:nvPr userDrawn="1"/>
        </p:nvSpPr>
        <p:spPr>
          <a:xfrm>
            <a:off x="5150472" y="4700383"/>
            <a:ext cx="1891057" cy="461665"/>
          </a:xfrm>
          <a:prstGeom prst="rect">
            <a:avLst/>
          </a:prstGeom>
          <a:noFill/>
        </p:spPr>
        <p:txBody>
          <a:bodyPr wrap="square" rtlCol="0" anchor="ctr">
            <a:spAutoFit/>
          </a:bodyPr>
          <a:lstStyle/>
          <a:p>
            <a:pPr algn="ctr"/>
            <a:r>
              <a:rPr lang="tr-TR" sz="2400" b="1" dirty="0">
                <a:solidFill>
                  <a:srgbClr val="012855"/>
                </a:solidFill>
                <a:latin typeface="Helvetica" pitchFamily="2" charset="0"/>
              </a:rPr>
              <a:t>Teşekkürler</a:t>
            </a:r>
          </a:p>
        </p:txBody>
      </p:sp>
      <p:pic>
        <p:nvPicPr>
          <p:cNvPr id="6" name="Picture 5">
            <a:extLst>
              <a:ext uri="{FF2B5EF4-FFF2-40B4-BE49-F238E27FC236}">
                <a16:creationId xmlns:a16="http://schemas.microsoft.com/office/drawing/2014/main" id="{D9AB56F4-AD76-6F23-90D0-2E430401ABD0}"/>
              </a:ext>
            </a:extLst>
          </p:cNvPr>
          <p:cNvPicPr>
            <a:picLocks noChangeAspect="1"/>
          </p:cNvPicPr>
          <p:nvPr userDrawn="1"/>
        </p:nvPicPr>
        <p:blipFill>
          <a:blip r:embed="rId2"/>
          <a:stretch>
            <a:fillRect/>
          </a:stretch>
        </p:blipFill>
        <p:spPr>
          <a:xfrm>
            <a:off x="5077238" y="781312"/>
            <a:ext cx="2037523" cy="1145473"/>
          </a:xfrm>
          <a:prstGeom prst="rect">
            <a:avLst/>
          </a:prstGeom>
        </p:spPr>
      </p:pic>
    </p:spTree>
    <p:extLst>
      <p:ext uri="{BB962C8B-B14F-4D97-AF65-F5344CB8AC3E}">
        <p14:creationId xmlns:p14="http://schemas.microsoft.com/office/powerpoint/2010/main" val="42221360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Resim 6">
            <a:extLst>
              <a:ext uri="{FF2B5EF4-FFF2-40B4-BE49-F238E27FC236}">
                <a16:creationId xmlns:a16="http://schemas.microsoft.com/office/drawing/2014/main" id="{3335444E-53CF-0493-F065-253DE939741F}"/>
              </a:ext>
            </a:extLst>
          </p:cNvPr>
          <p:cNvPicPr>
            <a:picLocks noChangeAspect="1"/>
          </p:cNvPicPr>
          <p:nvPr userDrawn="1"/>
        </p:nvPicPr>
        <p:blipFill>
          <a:blip r:embed="rId9"/>
          <a:stretch>
            <a:fillRect/>
          </a:stretch>
        </p:blipFill>
        <p:spPr>
          <a:xfrm>
            <a:off x="794" y="1"/>
            <a:ext cx="12191206" cy="6858447"/>
          </a:xfrm>
          <a:prstGeom prst="rect">
            <a:avLst/>
          </a:prstGeom>
        </p:spPr>
      </p:pic>
    </p:spTree>
    <p:extLst>
      <p:ext uri="{BB962C8B-B14F-4D97-AF65-F5344CB8AC3E}">
        <p14:creationId xmlns:p14="http://schemas.microsoft.com/office/powerpoint/2010/main" val="3995178303"/>
      </p:ext>
    </p:extLst>
  </p:cSld>
  <p:clrMap bg1="lt1" tx1="dk1" bg2="lt2" tx2="dk2" accent1="accent1" accent2="accent2" accent3="accent3" accent4="accent4" accent5="accent5" accent6="accent6" hlink="hlink" folHlink="folHlink"/>
  <p:sldLayoutIdLst>
    <p:sldLayoutId id="2147484141" r:id="rId1"/>
    <p:sldLayoutId id="2147484144" r:id="rId2"/>
    <p:sldLayoutId id="2147484151" r:id="rId3"/>
    <p:sldLayoutId id="2147484146" r:id="rId4"/>
    <p:sldLayoutId id="2147484147" r:id="rId5"/>
    <p:sldLayoutId id="2147484148" r:id="rId6"/>
    <p:sldLayoutId id="2147484149" r:id="rId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kaggle.com/competitions/cassava-leaf-disease-classification/data" TargetMode="External"/><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10.jpg"/><Relationship Id="rId3" Type="http://schemas.openxmlformats.org/officeDocument/2006/relationships/image" Target="../media/image5.jpg"/><Relationship Id="rId7" Type="http://schemas.openxmlformats.org/officeDocument/2006/relationships/image" Target="../media/image9.jpg"/><Relationship Id="rId2" Type="http://schemas.openxmlformats.org/officeDocument/2006/relationships/image" Target="../media/image4.jpg"/><Relationship Id="rId1" Type="http://schemas.openxmlformats.org/officeDocument/2006/relationships/slideLayout" Target="../slideLayouts/slideLayout2.xml"/><Relationship Id="rId6" Type="http://schemas.openxmlformats.org/officeDocument/2006/relationships/image" Target="../media/image8.jpg"/><Relationship Id="rId5" Type="http://schemas.openxmlformats.org/officeDocument/2006/relationships/image" Target="../media/image7.jpg"/><Relationship Id="rId4" Type="http://schemas.openxmlformats.org/officeDocument/2006/relationships/image" Target="../media/image6.jpg"/></Relationships>
</file>

<file path=ppt/slides/_rels/slide5.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4.jp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3.jp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jpg"/><Relationship Id="rId1" Type="http://schemas.openxmlformats.org/officeDocument/2006/relationships/slideLayout" Target="../slideLayouts/slideLayout3.xml"/><Relationship Id="rId5" Type="http://schemas.openxmlformats.org/officeDocument/2006/relationships/image" Target="../media/image17.jpe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3.jpg"/><Relationship Id="rId1" Type="http://schemas.openxmlformats.org/officeDocument/2006/relationships/slideLayout" Target="../slideLayouts/slideLayout4.xml"/><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3.jp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3.jpg"/><Relationship Id="rId1" Type="http://schemas.openxmlformats.org/officeDocument/2006/relationships/slideLayout" Target="../slideLayouts/slideLayout5.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3.jp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image" Target="../media/image3.jpg"/><Relationship Id="rId1" Type="http://schemas.openxmlformats.org/officeDocument/2006/relationships/slideLayout" Target="../slideLayouts/slideLayout6.xml"/><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3.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Metin kutusu 1">
            <a:extLst>
              <a:ext uri="{FF2B5EF4-FFF2-40B4-BE49-F238E27FC236}">
                <a16:creationId xmlns:a16="http://schemas.microsoft.com/office/drawing/2014/main" id="{53EF0E96-9262-B578-FD5E-849D180DD9E7}"/>
              </a:ext>
            </a:extLst>
          </p:cNvPr>
          <p:cNvSpPr txBox="1"/>
          <p:nvPr/>
        </p:nvSpPr>
        <p:spPr>
          <a:xfrm>
            <a:off x="2748799" y="1981122"/>
            <a:ext cx="6694398" cy="707886"/>
          </a:xfrm>
          <a:prstGeom prst="rect">
            <a:avLst/>
          </a:prstGeom>
          <a:noFill/>
        </p:spPr>
        <p:txBody>
          <a:bodyPr wrap="square" rtlCol="0" anchor="ctr">
            <a:spAutoFit/>
          </a:bodyPr>
          <a:lstStyle/>
          <a:p>
            <a:pPr algn="ctr"/>
            <a:r>
              <a:rPr lang="en-US" sz="2000" b="1" dirty="0">
                <a:solidFill>
                  <a:srgbClr val="012855"/>
                </a:solidFill>
                <a:latin typeface="Helvetica" pitchFamily="2" charset="0"/>
              </a:rPr>
              <a:t>BBL588E Advanced Topics in Image Analysis Term Project Presentation</a:t>
            </a:r>
            <a:endParaRPr lang="tr-TR" sz="2000" b="1" dirty="0">
              <a:solidFill>
                <a:srgbClr val="012855"/>
              </a:solidFill>
              <a:latin typeface="Helvetica" pitchFamily="2" charset="0"/>
            </a:endParaRPr>
          </a:p>
        </p:txBody>
      </p:sp>
      <p:sp>
        <p:nvSpPr>
          <p:cNvPr id="3" name="Metin kutusu 2">
            <a:extLst>
              <a:ext uri="{FF2B5EF4-FFF2-40B4-BE49-F238E27FC236}">
                <a16:creationId xmlns:a16="http://schemas.microsoft.com/office/drawing/2014/main" id="{7E6A8A9F-8EE3-0A8E-A6D4-55A941C78445}"/>
              </a:ext>
            </a:extLst>
          </p:cNvPr>
          <p:cNvSpPr txBox="1"/>
          <p:nvPr/>
        </p:nvSpPr>
        <p:spPr>
          <a:xfrm>
            <a:off x="4017016" y="5791782"/>
            <a:ext cx="4157965" cy="400110"/>
          </a:xfrm>
          <a:prstGeom prst="rect">
            <a:avLst/>
          </a:prstGeom>
          <a:noFill/>
        </p:spPr>
        <p:txBody>
          <a:bodyPr wrap="square" rtlCol="0" anchor="ctr">
            <a:spAutoFit/>
          </a:bodyPr>
          <a:lstStyle/>
          <a:p>
            <a:pPr algn="ctr"/>
            <a:r>
              <a:rPr lang="en-US" sz="2000" dirty="0">
                <a:solidFill>
                  <a:srgbClr val="012855"/>
                </a:solidFill>
                <a:latin typeface="Helvetica Light" panose="020B0403020202020204" pitchFamily="34" charset="0"/>
              </a:rPr>
              <a:t>14</a:t>
            </a:r>
            <a:r>
              <a:rPr lang="tr-TR" sz="2000" dirty="0">
                <a:solidFill>
                  <a:srgbClr val="012855"/>
                </a:solidFill>
                <a:latin typeface="Helvetica Light" panose="020B0403020202020204" pitchFamily="34" charset="0"/>
              </a:rPr>
              <a:t>.</a:t>
            </a:r>
            <a:r>
              <a:rPr lang="en-US" sz="2000" dirty="0">
                <a:solidFill>
                  <a:srgbClr val="012855"/>
                </a:solidFill>
                <a:latin typeface="Helvetica Light" panose="020B0403020202020204" pitchFamily="34" charset="0"/>
              </a:rPr>
              <a:t>01</a:t>
            </a:r>
            <a:r>
              <a:rPr lang="tr-TR" sz="2000" dirty="0">
                <a:solidFill>
                  <a:srgbClr val="012855"/>
                </a:solidFill>
                <a:latin typeface="Helvetica Light" panose="020B0403020202020204" pitchFamily="34" charset="0"/>
              </a:rPr>
              <a:t>.202</a:t>
            </a:r>
            <a:r>
              <a:rPr lang="en-US" sz="2000" dirty="0">
                <a:solidFill>
                  <a:srgbClr val="012855"/>
                </a:solidFill>
                <a:latin typeface="Helvetica Light" panose="020B0403020202020204" pitchFamily="34" charset="0"/>
              </a:rPr>
              <a:t>5</a:t>
            </a:r>
            <a:endParaRPr lang="tr-TR" sz="2000" dirty="0">
              <a:solidFill>
                <a:srgbClr val="012855"/>
              </a:solidFill>
              <a:latin typeface="Helvetica Light" panose="020B0403020202020204" pitchFamily="34" charset="0"/>
            </a:endParaRPr>
          </a:p>
        </p:txBody>
      </p:sp>
      <p:sp>
        <p:nvSpPr>
          <p:cNvPr id="4" name="Metin kutusu 3">
            <a:extLst>
              <a:ext uri="{FF2B5EF4-FFF2-40B4-BE49-F238E27FC236}">
                <a16:creationId xmlns:a16="http://schemas.microsoft.com/office/drawing/2014/main" id="{76CC2FF8-8855-09C8-DA57-95A1C90806F5}"/>
              </a:ext>
            </a:extLst>
          </p:cNvPr>
          <p:cNvSpPr txBox="1"/>
          <p:nvPr/>
        </p:nvSpPr>
        <p:spPr>
          <a:xfrm>
            <a:off x="2706128" y="4933964"/>
            <a:ext cx="6694399" cy="830997"/>
          </a:xfrm>
          <a:prstGeom prst="rect">
            <a:avLst/>
          </a:prstGeom>
          <a:noFill/>
        </p:spPr>
        <p:txBody>
          <a:bodyPr wrap="square" rtlCol="0" anchor="ctr">
            <a:spAutoFit/>
          </a:bodyPr>
          <a:lstStyle/>
          <a:p>
            <a:pPr algn="ctr"/>
            <a:r>
              <a:rPr lang="en-US" sz="2400" b="1" dirty="0">
                <a:solidFill>
                  <a:srgbClr val="012855"/>
                </a:solidFill>
                <a:latin typeface="Helvetica" pitchFamily="2" charset="0"/>
              </a:rPr>
              <a:t>704241020 - Alper Berkin YAZICI</a:t>
            </a:r>
          </a:p>
          <a:p>
            <a:pPr algn="ctr"/>
            <a:r>
              <a:rPr lang="en-US" sz="2400" b="1" dirty="0">
                <a:solidFill>
                  <a:srgbClr val="012855"/>
                </a:solidFill>
                <a:latin typeface="Helvetica" pitchFamily="2" charset="0"/>
              </a:rPr>
              <a:t>704241023 - Furkan GÜNEY</a:t>
            </a:r>
            <a:endParaRPr lang="tr-TR" sz="2400" b="1" dirty="0">
              <a:solidFill>
                <a:srgbClr val="012855"/>
              </a:solidFill>
              <a:latin typeface="Helvetica" pitchFamily="2" charset="0"/>
            </a:endParaRPr>
          </a:p>
        </p:txBody>
      </p:sp>
      <p:sp>
        <p:nvSpPr>
          <p:cNvPr id="6" name="Metin kutusu 5">
            <a:extLst>
              <a:ext uri="{FF2B5EF4-FFF2-40B4-BE49-F238E27FC236}">
                <a16:creationId xmlns:a16="http://schemas.microsoft.com/office/drawing/2014/main" id="{092692A7-1B29-F55F-5D92-EBD3A4DE24AF}"/>
              </a:ext>
            </a:extLst>
          </p:cNvPr>
          <p:cNvSpPr txBox="1"/>
          <p:nvPr/>
        </p:nvSpPr>
        <p:spPr>
          <a:xfrm>
            <a:off x="2651760" y="2645564"/>
            <a:ext cx="6611112" cy="1569660"/>
          </a:xfrm>
          <a:prstGeom prst="rect">
            <a:avLst/>
          </a:prstGeom>
          <a:noFill/>
        </p:spPr>
        <p:txBody>
          <a:bodyPr wrap="square" rtlCol="0" anchor="ctr">
            <a:spAutoFit/>
          </a:bodyPr>
          <a:lstStyle/>
          <a:p>
            <a:pPr algn="ctr"/>
            <a:r>
              <a:rPr lang="en-US" sz="4800" b="1" dirty="0">
                <a:solidFill>
                  <a:srgbClr val="012855"/>
                </a:solidFill>
                <a:latin typeface="Helvetica" pitchFamily="2" charset="0"/>
              </a:rPr>
              <a:t>Cassava Leaf Disease Classification</a:t>
            </a:r>
            <a:endParaRPr lang="tr-TR" sz="4800" b="1" dirty="0">
              <a:solidFill>
                <a:srgbClr val="012855"/>
              </a:solidFill>
              <a:latin typeface="Helvetica" pitchFamily="2" charset="0"/>
            </a:endParaRPr>
          </a:p>
        </p:txBody>
      </p:sp>
    </p:spTree>
    <p:extLst>
      <p:ext uri="{BB962C8B-B14F-4D97-AF65-F5344CB8AC3E}">
        <p14:creationId xmlns:p14="http://schemas.microsoft.com/office/powerpoint/2010/main" val="13434560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Metin kutusu 1">
            <a:extLst>
              <a:ext uri="{FF2B5EF4-FFF2-40B4-BE49-F238E27FC236}">
                <a16:creationId xmlns:a16="http://schemas.microsoft.com/office/drawing/2014/main" id="{C6522129-3A3B-9752-BF80-D5855E942B89}"/>
              </a:ext>
            </a:extLst>
          </p:cNvPr>
          <p:cNvSpPr txBox="1"/>
          <p:nvPr/>
        </p:nvSpPr>
        <p:spPr>
          <a:xfrm>
            <a:off x="7776081" y="450000"/>
            <a:ext cx="3223959" cy="523220"/>
          </a:xfrm>
          <a:prstGeom prst="rect">
            <a:avLst/>
          </a:prstGeom>
          <a:noFill/>
        </p:spPr>
        <p:txBody>
          <a:bodyPr wrap="none" rtlCol="0">
            <a:spAutoFit/>
          </a:bodyPr>
          <a:lstStyle/>
          <a:p>
            <a:r>
              <a:rPr lang="en-US" sz="2800" dirty="0">
                <a:solidFill>
                  <a:schemeClr val="bg1"/>
                </a:solidFill>
                <a:latin typeface="Helvetica" pitchFamily="2" charset="0"/>
              </a:rPr>
              <a:t>Problem Definition </a:t>
            </a:r>
            <a:endParaRPr lang="tr-TR" sz="2800" dirty="0">
              <a:solidFill>
                <a:schemeClr val="bg1"/>
              </a:solidFill>
              <a:latin typeface="Helvetica" pitchFamily="2" charset="0"/>
            </a:endParaRPr>
          </a:p>
        </p:txBody>
      </p:sp>
      <p:sp>
        <p:nvSpPr>
          <p:cNvPr id="4" name="Metin kutusu 3">
            <a:extLst>
              <a:ext uri="{FF2B5EF4-FFF2-40B4-BE49-F238E27FC236}">
                <a16:creationId xmlns:a16="http://schemas.microsoft.com/office/drawing/2014/main" id="{C703CCB2-0E35-8991-9D71-89519EFF94A8}"/>
              </a:ext>
            </a:extLst>
          </p:cNvPr>
          <p:cNvSpPr txBox="1"/>
          <p:nvPr/>
        </p:nvSpPr>
        <p:spPr>
          <a:xfrm>
            <a:off x="384048" y="1243582"/>
            <a:ext cx="11503152" cy="4524315"/>
          </a:xfrm>
          <a:prstGeom prst="rect">
            <a:avLst/>
          </a:prstGeom>
          <a:noFill/>
        </p:spPr>
        <p:txBody>
          <a:bodyPr wrap="square" rtlCol="0">
            <a:spAutoFit/>
          </a:bodyPr>
          <a:lstStyle/>
          <a:p>
            <a:endParaRPr lang="en-US" dirty="0"/>
          </a:p>
          <a:p>
            <a:r>
              <a:rPr lang="en-US" b="1" dirty="0"/>
              <a:t>Problem</a:t>
            </a:r>
          </a:p>
          <a:p>
            <a:r>
              <a:rPr lang="en-US" dirty="0"/>
              <a:t>Cassava is a vital crop for millions globally, but its production is severely threatened by diseases like Cassava Mosaic Disease (CMD) and Cassava Brown Streak Disease (CBSD). Accurate and timely identification of these diseases is essential to prevent significant yield losses and support food security. This project aims to develop a deep learning-based solution to automate cassava leaf disease detection using image classification.</a:t>
            </a:r>
          </a:p>
          <a:p>
            <a:endParaRPr lang="en-US" dirty="0"/>
          </a:p>
          <a:p>
            <a:r>
              <a:rPr lang="en-US" b="1" dirty="0"/>
              <a:t>Challenges</a:t>
            </a:r>
          </a:p>
          <a:p>
            <a:r>
              <a:rPr lang="en-US" dirty="0"/>
              <a:t>The classification task comes with challenges such as variability in leaf patterns across the same disease class, imbalanced datasets favoring some diseases over others, and environmental factors like lighting and background noise in images. Additionally, deploying such solutions in resource-constrained regions adds complexity to the problem.</a:t>
            </a:r>
          </a:p>
          <a:p>
            <a:endParaRPr lang="en-US" dirty="0"/>
          </a:p>
          <a:p>
            <a:r>
              <a:rPr lang="en-US" b="1" dirty="0"/>
              <a:t>Goals</a:t>
            </a:r>
          </a:p>
          <a:p>
            <a:r>
              <a:rPr lang="en-US" dirty="0"/>
              <a:t>The goal is to design a robust model using transfer learning to achieve high accuracy in disease detection, while addressing challenges like class imbalance and noisy data. Ultimately, the project aims to provide an accessible tool for farmers to improve cassava crop management and reduce losses.</a:t>
            </a:r>
          </a:p>
        </p:txBody>
      </p:sp>
    </p:spTree>
    <p:extLst>
      <p:ext uri="{BB962C8B-B14F-4D97-AF65-F5344CB8AC3E}">
        <p14:creationId xmlns:p14="http://schemas.microsoft.com/office/powerpoint/2010/main" val="3127172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2CD7EB00-3554-4D4D-57B6-AF5E74F3DCC3}"/>
            </a:ext>
          </a:extLst>
        </p:cNvPr>
        <p:cNvGrpSpPr/>
        <p:nvPr/>
      </p:nvGrpSpPr>
      <p:grpSpPr>
        <a:xfrm>
          <a:off x="0" y="0"/>
          <a:ext cx="0" cy="0"/>
          <a:chOff x="0" y="0"/>
          <a:chExt cx="0" cy="0"/>
        </a:xfrm>
      </p:grpSpPr>
      <p:sp>
        <p:nvSpPr>
          <p:cNvPr id="2" name="Metin kutusu 1">
            <a:extLst>
              <a:ext uri="{FF2B5EF4-FFF2-40B4-BE49-F238E27FC236}">
                <a16:creationId xmlns:a16="http://schemas.microsoft.com/office/drawing/2014/main" id="{1C768E0D-AAC3-013A-1E80-F82B4339D9E2}"/>
              </a:ext>
            </a:extLst>
          </p:cNvPr>
          <p:cNvSpPr txBox="1"/>
          <p:nvPr/>
        </p:nvSpPr>
        <p:spPr>
          <a:xfrm>
            <a:off x="7776081" y="450000"/>
            <a:ext cx="2462534" cy="523220"/>
          </a:xfrm>
          <a:prstGeom prst="rect">
            <a:avLst/>
          </a:prstGeom>
          <a:noFill/>
        </p:spPr>
        <p:txBody>
          <a:bodyPr wrap="none" rtlCol="0">
            <a:spAutoFit/>
          </a:bodyPr>
          <a:lstStyle/>
          <a:p>
            <a:r>
              <a:rPr lang="en-US" sz="2800" dirty="0">
                <a:solidFill>
                  <a:schemeClr val="bg1"/>
                </a:solidFill>
                <a:latin typeface="Helvetica" pitchFamily="2" charset="0"/>
              </a:rPr>
              <a:t>About Dataset</a:t>
            </a:r>
            <a:endParaRPr lang="tr-TR" sz="2800" dirty="0">
              <a:solidFill>
                <a:schemeClr val="bg1"/>
              </a:solidFill>
              <a:latin typeface="Helvetica" pitchFamily="2" charset="0"/>
            </a:endParaRPr>
          </a:p>
        </p:txBody>
      </p:sp>
      <p:sp>
        <p:nvSpPr>
          <p:cNvPr id="4" name="Metin kutusu 3">
            <a:extLst>
              <a:ext uri="{FF2B5EF4-FFF2-40B4-BE49-F238E27FC236}">
                <a16:creationId xmlns:a16="http://schemas.microsoft.com/office/drawing/2014/main" id="{71C13782-6C40-D3C6-2679-B5174FFD3F12}"/>
              </a:ext>
            </a:extLst>
          </p:cNvPr>
          <p:cNvSpPr txBox="1"/>
          <p:nvPr/>
        </p:nvSpPr>
        <p:spPr>
          <a:xfrm>
            <a:off x="466344" y="1234438"/>
            <a:ext cx="11448288" cy="4524315"/>
          </a:xfrm>
          <a:prstGeom prst="rect">
            <a:avLst/>
          </a:prstGeom>
          <a:noFill/>
        </p:spPr>
        <p:txBody>
          <a:bodyPr wrap="square" rtlCol="0">
            <a:spAutoFit/>
          </a:bodyPr>
          <a:lstStyle/>
          <a:p>
            <a:r>
              <a:rPr lang="en-US" b="0" dirty="0">
                <a:latin typeface="Helvetica" pitchFamily="2" charset="0"/>
              </a:rPr>
              <a:t>From Kaggle : </a:t>
            </a:r>
            <a:r>
              <a:rPr lang="en-US" b="0" dirty="0">
                <a:latin typeface="Helvetica" pitchFamily="2" charset="0"/>
                <a:hlinkClick r:id="rId3"/>
              </a:rPr>
              <a:t>https://www.kaggle.com/competitions/cassava-leaf-disease-classification/data</a:t>
            </a:r>
            <a:endParaRPr lang="en-US" b="0" dirty="0">
              <a:latin typeface="Helvetica" pitchFamily="2" charset="0"/>
            </a:endParaRPr>
          </a:p>
          <a:p>
            <a:endParaRPr lang="en-US" dirty="0"/>
          </a:p>
          <a:p>
            <a:r>
              <a:rPr lang="en-US" dirty="0"/>
              <a:t>It contains 21,397 labeled images of cassava leaves, categorized into five classes:</a:t>
            </a:r>
          </a:p>
          <a:p>
            <a:endParaRPr lang="en-US" dirty="0"/>
          </a:p>
          <a:p>
            <a:pPr>
              <a:buFont typeface="+mj-lt"/>
              <a:buAutoNum type="arabicPeriod"/>
            </a:pPr>
            <a:r>
              <a:rPr lang="en-US" b="1" dirty="0"/>
              <a:t>Cassava Bacterial Blight (CBB)</a:t>
            </a:r>
            <a:endParaRPr lang="en-US" dirty="0"/>
          </a:p>
          <a:p>
            <a:pPr>
              <a:buFont typeface="+mj-lt"/>
              <a:buAutoNum type="arabicPeriod"/>
            </a:pPr>
            <a:r>
              <a:rPr lang="en-US" b="1" dirty="0"/>
              <a:t>Cassava Brown Streak Disease (CBSD)</a:t>
            </a:r>
            <a:endParaRPr lang="en-US" dirty="0"/>
          </a:p>
          <a:p>
            <a:pPr>
              <a:buFont typeface="+mj-lt"/>
              <a:buAutoNum type="arabicPeriod"/>
            </a:pPr>
            <a:r>
              <a:rPr lang="en-US" b="1" dirty="0"/>
              <a:t>Cassava Green Mottle (CGM)</a:t>
            </a:r>
            <a:endParaRPr lang="en-US" dirty="0"/>
          </a:p>
          <a:p>
            <a:pPr>
              <a:buFont typeface="+mj-lt"/>
              <a:buAutoNum type="arabicPeriod"/>
            </a:pPr>
            <a:r>
              <a:rPr lang="en-US" b="1" dirty="0"/>
              <a:t>Cassava Mosaic Disease (CMD)</a:t>
            </a:r>
            <a:endParaRPr lang="en-US" dirty="0"/>
          </a:p>
          <a:p>
            <a:pPr>
              <a:buFont typeface="+mj-lt"/>
              <a:buAutoNum type="arabicPeriod"/>
            </a:pPr>
            <a:r>
              <a:rPr lang="en-US" b="1" dirty="0"/>
              <a:t>Healthy</a:t>
            </a:r>
          </a:p>
          <a:p>
            <a:pPr>
              <a:buFont typeface="+mj-lt"/>
              <a:buAutoNum type="arabicPeriod"/>
            </a:pPr>
            <a:endParaRPr lang="en-US" dirty="0"/>
          </a:p>
          <a:p>
            <a:pPr marL="285750" indent="-285750">
              <a:buFont typeface="Arial" panose="020B0604020202020204" pitchFamily="34" charset="0"/>
              <a:buChar char="•"/>
            </a:pPr>
            <a:r>
              <a:rPr lang="en-US" dirty="0"/>
              <a:t>Each image is labeled with a class corresponding to the health status or disease affecting the cassava leaf. The dataset is imbalanced, with some classes having significantly more samples than others, posing an additional challenge for model training.</a:t>
            </a:r>
          </a:p>
          <a:p>
            <a:endParaRPr lang="en-US" dirty="0"/>
          </a:p>
          <a:p>
            <a:pPr marL="285750" indent="-285750">
              <a:buFont typeface="Arial" panose="020B0604020202020204" pitchFamily="34" charset="0"/>
              <a:buChar char="•"/>
            </a:pPr>
            <a:r>
              <a:rPr lang="en-US" dirty="0"/>
              <a:t>The images vary in quality, lighting, and background, simulating real-world conditions. This diversity makes the dataset highly representative and ideal for training models to generalize well in practical applications.</a:t>
            </a:r>
          </a:p>
        </p:txBody>
      </p:sp>
    </p:spTree>
    <p:extLst>
      <p:ext uri="{BB962C8B-B14F-4D97-AF65-F5344CB8AC3E}">
        <p14:creationId xmlns:p14="http://schemas.microsoft.com/office/powerpoint/2010/main" val="37352138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23B434F8-EFB1-38BE-6158-24C500DA6AC6}"/>
            </a:ext>
          </a:extLst>
        </p:cNvPr>
        <p:cNvGrpSpPr/>
        <p:nvPr/>
      </p:nvGrpSpPr>
      <p:grpSpPr>
        <a:xfrm>
          <a:off x="0" y="0"/>
          <a:ext cx="0" cy="0"/>
          <a:chOff x="0" y="0"/>
          <a:chExt cx="0" cy="0"/>
        </a:xfrm>
      </p:grpSpPr>
      <p:sp>
        <p:nvSpPr>
          <p:cNvPr id="2" name="Metin kutusu 1">
            <a:extLst>
              <a:ext uri="{FF2B5EF4-FFF2-40B4-BE49-F238E27FC236}">
                <a16:creationId xmlns:a16="http://schemas.microsoft.com/office/drawing/2014/main" id="{633AC2BE-625E-901E-5764-743988EB4BAA}"/>
              </a:ext>
            </a:extLst>
          </p:cNvPr>
          <p:cNvSpPr txBox="1"/>
          <p:nvPr/>
        </p:nvSpPr>
        <p:spPr>
          <a:xfrm>
            <a:off x="7776081" y="450000"/>
            <a:ext cx="2462534" cy="523220"/>
          </a:xfrm>
          <a:prstGeom prst="rect">
            <a:avLst/>
          </a:prstGeom>
          <a:noFill/>
        </p:spPr>
        <p:txBody>
          <a:bodyPr wrap="none" rtlCol="0">
            <a:spAutoFit/>
          </a:bodyPr>
          <a:lstStyle/>
          <a:p>
            <a:r>
              <a:rPr lang="en-US" sz="2800" dirty="0">
                <a:solidFill>
                  <a:schemeClr val="bg1"/>
                </a:solidFill>
                <a:latin typeface="Helvetica" pitchFamily="2" charset="0"/>
              </a:rPr>
              <a:t>About Dataset</a:t>
            </a:r>
            <a:endParaRPr lang="tr-TR" sz="2800" dirty="0">
              <a:solidFill>
                <a:schemeClr val="bg1"/>
              </a:solidFill>
              <a:latin typeface="Helvetica" pitchFamily="2" charset="0"/>
            </a:endParaRPr>
          </a:p>
        </p:txBody>
      </p:sp>
      <p:pic>
        <p:nvPicPr>
          <p:cNvPr id="5" name="Resim 4" descr="bitki, sebze, dış mekan, manyok içeren bir resim&#10;&#10;Açıklama otomatik olarak oluşturuldu">
            <a:extLst>
              <a:ext uri="{FF2B5EF4-FFF2-40B4-BE49-F238E27FC236}">
                <a16:creationId xmlns:a16="http://schemas.microsoft.com/office/drawing/2014/main" id="{A567CF0F-B3B0-0491-D63F-60F01C10C057}"/>
              </a:ext>
            </a:extLst>
          </p:cNvPr>
          <p:cNvPicPr>
            <a:picLocks noChangeAspect="1"/>
          </p:cNvPicPr>
          <p:nvPr/>
        </p:nvPicPr>
        <p:blipFill>
          <a:blip r:embed="rId3"/>
          <a:stretch>
            <a:fillRect/>
          </a:stretch>
        </p:blipFill>
        <p:spPr>
          <a:xfrm>
            <a:off x="730939" y="1494950"/>
            <a:ext cx="2462534" cy="1846901"/>
          </a:xfrm>
          <a:prstGeom prst="rect">
            <a:avLst/>
          </a:prstGeom>
        </p:spPr>
      </p:pic>
      <p:pic>
        <p:nvPicPr>
          <p:cNvPr id="7" name="Resim 6" descr="bitki, dış mekan, yeryüzü bitkisi, ağaç içeren bir resim&#10;&#10;Açıklama otomatik olarak oluşturuldu">
            <a:extLst>
              <a:ext uri="{FF2B5EF4-FFF2-40B4-BE49-F238E27FC236}">
                <a16:creationId xmlns:a16="http://schemas.microsoft.com/office/drawing/2014/main" id="{5B427F85-ED27-9327-BC9D-6E287B228E04}"/>
              </a:ext>
            </a:extLst>
          </p:cNvPr>
          <p:cNvPicPr>
            <a:picLocks noChangeAspect="1"/>
          </p:cNvPicPr>
          <p:nvPr/>
        </p:nvPicPr>
        <p:blipFill>
          <a:blip r:embed="rId4"/>
          <a:stretch>
            <a:fillRect/>
          </a:stretch>
        </p:blipFill>
        <p:spPr>
          <a:xfrm>
            <a:off x="3948655" y="1494951"/>
            <a:ext cx="2462534" cy="1846900"/>
          </a:xfrm>
          <a:prstGeom prst="rect">
            <a:avLst/>
          </a:prstGeom>
        </p:spPr>
      </p:pic>
      <p:pic>
        <p:nvPicPr>
          <p:cNvPr id="9" name="Resim 8" descr="dış mekan, ağaç, bitki, yeryüzü bitkisi içeren bir resim&#10;&#10;Açıklama otomatik olarak oluşturuldu">
            <a:extLst>
              <a:ext uri="{FF2B5EF4-FFF2-40B4-BE49-F238E27FC236}">
                <a16:creationId xmlns:a16="http://schemas.microsoft.com/office/drawing/2014/main" id="{8FACCBA1-F66C-8BA5-A55B-C6F6BEA44F86}"/>
              </a:ext>
            </a:extLst>
          </p:cNvPr>
          <p:cNvPicPr>
            <a:picLocks noChangeAspect="1"/>
          </p:cNvPicPr>
          <p:nvPr/>
        </p:nvPicPr>
        <p:blipFill>
          <a:blip r:embed="rId5"/>
          <a:stretch>
            <a:fillRect/>
          </a:stretch>
        </p:blipFill>
        <p:spPr>
          <a:xfrm>
            <a:off x="730940" y="3719945"/>
            <a:ext cx="2462534" cy="1846901"/>
          </a:xfrm>
          <a:prstGeom prst="rect">
            <a:avLst/>
          </a:prstGeom>
        </p:spPr>
      </p:pic>
      <p:pic>
        <p:nvPicPr>
          <p:cNvPr id="11" name="Resim 10" descr="ağaç, dış mekan, yeryüzü bitkisi, bitki içeren bir resim&#10;&#10;Açıklama otomatik olarak oluşturuldu">
            <a:extLst>
              <a:ext uri="{FF2B5EF4-FFF2-40B4-BE49-F238E27FC236}">
                <a16:creationId xmlns:a16="http://schemas.microsoft.com/office/drawing/2014/main" id="{91588733-2619-700D-B364-D3F32417FEE9}"/>
              </a:ext>
            </a:extLst>
          </p:cNvPr>
          <p:cNvPicPr>
            <a:picLocks noChangeAspect="1"/>
          </p:cNvPicPr>
          <p:nvPr/>
        </p:nvPicPr>
        <p:blipFill>
          <a:blip r:embed="rId6"/>
          <a:stretch>
            <a:fillRect/>
          </a:stretch>
        </p:blipFill>
        <p:spPr>
          <a:xfrm>
            <a:off x="3948654" y="3719944"/>
            <a:ext cx="2462535" cy="1846901"/>
          </a:xfrm>
          <a:prstGeom prst="rect">
            <a:avLst/>
          </a:prstGeom>
        </p:spPr>
      </p:pic>
      <p:pic>
        <p:nvPicPr>
          <p:cNvPr id="13" name="Resim 12" descr="dış mekan, yeryüzü bitkisi, bitki, yer içeren bir resim&#10;&#10;Açıklama otomatik olarak oluşturuldu">
            <a:extLst>
              <a:ext uri="{FF2B5EF4-FFF2-40B4-BE49-F238E27FC236}">
                <a16:creationId xmlns:a16="http://schemas.microsoft.com/office/drawing/2014/main" id="{686D6394-D8CA-147B-5FED-9108559E3744}"/>
              </a:ext>
            </a:extLst>
          </p:cNvPr>
          <p:cNvPicPr>
            <a:picLocks noChangeAspect="1"/>
          </p:cNvPicPr>
          <p:nvPr/>
        </p:nvPicPr>
        <p:blipFill>
          <a:blip r:embed="rId7"/>
          <a:stretch>
            <a:fillRect/>
          </a:stretch>
        </p:blipFill>
        <p:spPr>
          <a:xfrm>
            <a:off x="7303075" y="1494950"/>
            <a:ext cx="2462535" cy="1846901"/>
          </a:xfrm>
          <a:prstGeom prst="rect">
            <a:avLst/>
          </a:prstGeom>
        </p:spPr>
      </p:pic>
      <p:pic>
        <p:nvPicPr>
          <p:cNvPr id="15" name="Resim 14" descr="dış mekan, sebze, bitki, yeryüzü bitkisi içeren bir resim&#10;&#10;Açıklama otomatik olarak oluşturuldu">
            <a:extLst>
              <a:ext uri="{FF2B5EF4-FFF2-40B4-BE49-F238E27FC236}">
                <a16:creationId xmlns:a16="http://schemas.microsoft.com/office/drawing/2014/main" id="{DAF1A485-5C6F-E2D1-683D-F3A391C919EF}"/>
              </a:ext>
            </a:extLst>
          </p:cNvPr>
          <p:cNvPicPr>
            <a:picLocks noChangeAspect="1"/>
          </p:cNvPicPr>
          <p:nvPr/>
        </p:nvPicPr>
        <p:blipFill>
          <a:blip r:embed="rId8"/>
          <a:stretch>
            <a:fillRect/>
          </a:stretch>
        </p:blipFill>
        <p:spPr>
          <a:xfrm>
            <a:off x="7303075" y="3719944"/>
            <a:ext cx="2462535" cy="1846901"/>
          </a:xfrm>
          <a:prstGeom prst="rect">
            <a:avLst/>
          </a:prstGeom>
        </p:spPr>
      </p:pic>
    </p:spTree>
    <p:extLst>
      <p:ext uri="{BB962C8B-B14F-4D97-AF65-F5344CB8AC3E}">
        <p14:creationId xmlns:p14="http://schemas.microsoft.com/office/powerpoint/2010/main" val="38772298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B6BDD81F-CBCC-AD46-167A-4FA01EB07C20}"/>
            </a:ext>
          </a:extLst>
        </p:cNvPr>
        <p:cNvGrpSpPr/>
        <p:nvPr/>
      </p:nvGrpSpPr>
      <p:grpSpPr>
        <a:xfrm>
          <a:off x="0" y="0"/>
          <a:ext cx="0" cy="0"/>
          <a:chOff x="0" y="0"/>
          <a:chExt cx="0" cy="0"/>
        </a:xfrm>
      </p:grpSpPr>
      <p:sp>
        <p:nvSpPr>
          <p:cNvPr id="2" name="Metin kutusu 1">
            <a:extLst>
              <a:ext uri="{FF2B5EF4-FFF2-40B4-BE49-F238E27FC236}">
                <a16:creationId xmlns:a16="http://schemas.microsoft.com/office/drawing/2014/main" id="{0DFE39E6-010B-A250-187D-C417C6ED115B}"/>
              </a:ext>
            </a:extLst>
          </p:cNvPr>
          <p:cNvSpPr txBox="1"/>
          <p:nvPr/>
        </p:nvSpPr>
        <p:spPr>
          <a:xfrm>
            <a:off x="7776081" y="450000"/>
            <a:ext cx="3082895" cy="523220"/>
          </a:xfrm>
          <a:prstGeom prst="rect">
            <a:avLst/>
          </a:prstGeom>
          <a:noFill/>
        </p:spPr>
        <p:txBody>
          <a:bodyPr wrap="none" rtlCol="0">
            <a:spAutoFit/>
          </a:bodyPr>
          <a:lstStyle/>
          <a:p>
            <a:r>
              <a:rPr lang="en-US" sz="2800" dirty="0">
                <a:solidFill>
                  <a:schemeClr val="bg1"/>
                </a:solidFill>
                <a:latin typeface="Helvetica" pitchFamily="2" charset="0"/>
              </a:rPr>
              <a:t>Class Distribution </a:t>
            </a:r>
            <a:endParaRPr lang="tr-TR" sz="2800" dirty="0">
              <a:solidFill>
                <a:schemeClr val="bg1"/>
              </a:solidFill>
              <a:latin typeface="Helvetica" pitchFamily="2" charset="0"/>
            </a:endParaRPr>
          </a:p>
        </p:txBody>
      </p:sp>
      <p:pic>
        <p:nvPicPr>
          <p:cNvPr id="6" name="Resim 5" descr="yeryüzü bitkisi, mozaik, dış mekan, bitki içeren bir resim&#10;&#10;Açıklama otomatik olarak oluşturuldu">
            <a:extLst>
              <a:ext uri="{FF2B5EF4-FFF2-40B4-BE49-F238E27FC236}">
                <a16:creationId xmlns:a16="http://schemas.microsoft.com/office/drawing/2014/main" id="{0FF87083-2ABD-C1B1-713C-9ED8735926C3}"/>
              </a:ext>
            </a:extLst>
          </p:cNvPr>
          <p:cNvPicPr>
            <a:picLocks noChangeAspect="1"/>
          </p:cNvPicPr>
          <p:nvPr/>
        </p:nvPicPr>
        <p:blipFill>
          <a:blip r:embed="rId3"/>
          <a:stretch>
            <a:fillRect/>
          </a:stretch>
        </p:blipFill>
        <p:spPr>
          <a:xfrm>
            <a:off x="0" y="0"/>
            <a:ext cx="7741202" cy="6858000"/>
          </a:xfrm>
          <a:prstGeom prst="rect">
            <a:avLst/>
          </a:prstGeom>
        </p:spPr>
      </p:pic>
      <p:pic>
        <p:nvPicPr>
          <p:cNvPr id="14" name="Resim 13">
            <a:extLst>
              <a:ext uri="{FF2B5EF4-FFF2-40B4-BE49-F238E27FC236}">
                <a16:creationId xmlns:a16="http://schemas.microsoft.com/office/drawing/2014/main" id="{EFA597BD-2173-2C2B-9329-60A9AEDE5090}"/>
              </a:ext>
            </a:extLst>
          </p:cNvPr>
          <p:cNvPicPr>
            <a:picLocks noChangeAspect="1"/>
          </p:cNvPicPr>
          <p:nvPr/>
        </p:nvPicPr>
        <p:blipFill>
          <a:blip r:embed="rId4"/>
          <a:stretch>
            <a:fillRect/>
          </a:stretch>
        </p:blipFill>
        <p:spPr>
          <a:xfrm>
            <a:off x="7888050" y="1828593"/>
            <a:ext cx="4005419" cy="1591194"/>
          </a:xfrm>
          <a:prstGeom prst="rect">
            <a:avLst/>
          </a:prstGeom>
        </p:spPr>
      </p:pic>
      <p:pic>
        <p:nvPicPr>
          <p:cNvPr id="17" name="Resim 16">
            <a:extLst>
              <a:ext uri="{FF2B5EF4-FFF2-40B4-BE49-F238E27FC236}">
                <a16:creationId xmlns:a16="http://schemas.microsoft.com/office/drawing/2014/main" id="{558C7FB8-F777-C899-ADA2-6AE91B5D9C65}"/>
              </a:ext>
            </a:extLst>
          </p:cNvPr>
          <p:cNvPicPr>
            <a:picLocks noChangeAspect="1"/>
          </p:cNvPicPr>
          <p:nvPr/>
        </p:nvPicPr>
        <p:blipFill>
          <a:blip r:embed="rId5"/>
          <a:stretch>
            <a:fillRect/>
          </a:stretch>
        </p:blipFill>
        <p:spPr>
          <a:xfrm>
            <a:off x="8193024" y="3630168"/>
            <a:ext cx="3536298" cy="2953033"/>
          </a:xfrm>
          <a:prstGeom prst="rect">
            <a:avLst/>
          </a:prstGeom>
        </p:spPr>
      </p:pic>
    </p:spTree>
    <p:extLst>
      <p:ext uri="{BB962C8B-B14F-4D97-AF65-F5344CB8AC3E}">
        <p14:creationId xmlns:p14="http://schemas.microsoft.com/office/powerpoint/2010/main" val="28280185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72827FE2-3D4F-83E0-C408-996450DA0477}"/>
            </a:ext>
          </a:extLst>
        </p:cNvPr>
        <p:cNvGrpSpPr/>
        <p:nvPr/>
      </p:nvGrpSpPr>
      <p:grpSpPr>
        <a:xfrm>
          <a:off x="0" y="0"/>
          <a:ext cx="0" cy="0"/>
          <a:chOff x="0" y="0"/>
          <a:chExt cx="0" cy="0"/>
        </a:xfrm>
      </p:grpSpPr>
      <p:sp>
        <p:nvSpPr>
          <p:cNvPr id="2" name="Metin kutusu 1">
            <a:extLst>
              <a:ext uri="{FF2B5EF4-FFF2-40B4-BE49-F238E27FC236}">
                <a16:creationId xmlns:a16="http://schemas.microsoft.com/office/drawing/2014/main" id="{A994E2E1-51EB-6A47-002F-312E13EAE5BA}"/>
              </a:ext>
            </a:extLst>
          </p:cNvPr>
          <p:cNvSpPr txBox="1"/>
          <p:nvPr/>
        </p:nvSpPr>
        <p:spPr>
          <a:xfrm>
            <a:off x="7776081" y="450000"/>
            <a:ext cx="3443571" cy="523220"/>
          </a:xfrm>
          <a:prstGeom prst="rect">
            <a:avLst/>
          </a:prstGeom>
          <a:noFill/>
        </p:spPr>
        <p:txBody>
          <a:bodyPr wrap="none" rtlCol="0">
            <a:spAutoFit/>
          </a:bodyPr>
          <a:lstStyle/>
          <a:p>
            <a:r>
              <a:rPr lang="en-US" sz="2800" dirty="0">
                <a:solidFill>
                  <a:schemeClr val="bg1"/>
                </a:solidFill>
                <a:latin typeface="Helvetica" pitchFamily="2" charset="0"/>
              </a:rPr>
              <a:t>Data Preprocessing </a:t>
            </a:r>
            <a:endParaRPr lang="tr-TR" sz="2800" dirty="0">
              <a:solidFill>
                <a:schemeClr val="bg1"/>
              </a:solidFill>
              <a:latin typeface="Helvetica" pitchFamily="2" charset="0"/>
            </a:endParaRPr>
          </a:p>
        </p:txBody>
      </p:sp>
      <p:sp>
        <p:nvSpPr>
          <p:cNvPr id="8" name="Rectangle 3">
            <a:extLst>
              <a:ext uri="{FF2B5EF4-FFF2-40B4-BE49-F238E27FC236}">
                <a16:creationId xmlns:a16="http://schemas.microsoft.com/office/drawing/2014/main" id="{F6BD607A-ED28-F60F-A835-1DB39C921467}"/>
              </a:ext>
            </a:extLst>
          </p:cNvPr>
          <p:cNvSpPr>
            <a:spLocks noChangeArrowheads="1"/>
          </p:cNvSpPr>
          <p:nvPr/>
        </p:nvSpPr>
        <p:spPr bwMode="auto">
          <a:xfrm rot="10800000" flipV="1">
            <a:off x="927845" y="1290967"/>
            <a:ext cx="10569210"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Data Loading and Labeling</a:t>
            </a:r>
            <a:r>
              <a:rPr kumimoji="0" lang="en-US" altLang="en-US" b="0" i="0" u="none" strike="noStrike" cap="none" normalizeH="0" baseline="0" dirty="0">
                <a:ln>
                  <a:noFill/>
                </a:ln>
                <a:solidFill>
                  <a:schemeClr val="tx1"/>
                </a:solidFill>
                <a:effectLst/>
              </a:rPr>
              <a:t>: The training data was loaded from </a:t>
            </a:r>
            <a:r>
              <a:rPr kumimoji="0" lang="en-US" altLang="en-US" b="0" i="0" u="sng" strike="noStrike" cap="none" normalizeH="0" baseline="0" dirty="0">
                <a:ln>
                  <a:noFill/>
                </a:ln>
                <a:solidFill>
                  <a:schemeClr val="tx1"/>
                </a:solidFill>
                <a:effectLst/>
              </a:rPr>
              <a:t>train.csv</a:t>
            </a:r>
            <a:r>
              <a:rPr kumimoji="0" lang="en-US" altLang="en-US" b="0" i="0" u="none" strike="noStrike" cap="none" normalizeH="0" baseline="0" dirty="0">
                <a:ln>
                  <a:noFill/>
                </a:ln>
                <a:solidFill>
                  <a:schemeClr val="tx1"/>
                </a:solidFill>
                <a:effectLst/>
              </a:rPr>
              <a:t>, and class labels were mapped using </a:t>
            </a:r>
            <a:r>
              <a:rPr kumimoji="0" lang="en-US" altLang="en-US" b="0" i="0" u="sng" strike="noStrike" cap="none" normalizeH="0" baseline="0" dirty="0" err="1">
                <a:ln>
                  <a:noFill/>
                </a:ln>
                <a:solidFill>
                  <a:schemeClr val="tx1"/>
                </a:solidFill>
                <a:effectLst/>
              </a:rPr>
              <a:t>label_num_to_disease_map.json</a:t>
            </a:r>
            <a:r>
              <a:rPr kumimoji="0" lang="en-US" altLang="en-US" b="0" i="0" u="sng"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Exploratory Data Analysis (EDA)</a:t>
            </a:r>
            <a:r>
              <a:rPr kumimoji="0" lang="en-US" altLang="en-US" b="0" i="0" u="none" strike="noStrike" cap="none" normalizeH="0" baseline="0" dirty="0">
                <a:ln>
                  <a:noFill/>
                </a:ln>
                <a:solidFill>
                  <a:schemeClr val="tx1"/>
                </a:solidFill>
                <a:effectLst/>
              </a:rPr>
              <a:t>: The class distribution was analyzed and visualized. Sample images from each class were displayed for further insights.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Data Augmentation</a:t>
            </a:r>
            <a:r>
              <a:rPr kumimoji="0" lang="en-US" altLang="en-US" b="0" i="0" u="none" strike="noStrike" cap="none" normalizeH="0" baseline="0" dirty="0">
                <a:ln>
                  <a:noFill/>
                </a:ln>
                <a:solidFill>
                  <a:schemeClr val="tx1"/>
                </a:solidFill>
                <a:effectLst/>
              </a:rPr>
              <a:t>: Techniques such as rotation, zoom, flipping, shifting, and shearing were applied to increase data diversity.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Train-Validation Split</a:t>
            </a:r>
            <a:r>
              <a:rPr kumimoji="0" lang="en-US" altLang="en-US" b="0" i="0" u="none" strike="noStrike" cap="none" normalizeH="0" baseline="0" dirty="0">
                <a:ln>
                  <a:noFill/>
                </a:ln>
                <a:solidFill>
                  <a:schemeClr val="tx1"/>
                </a:solidFill>
                <a:effectLst/>
              </a:rPr>
              <a:t>: The dataset was split into 80% for training and 20% for validation, with separate data generators created for both.</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37780593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3BE11F69-CFE4-7428-F9D9-E74BF6A8A952}"/>
            </a:ext>
          </a:extLst>
        </p:cNvPr>
        <p:cNvGrpSpPr/>
        <p:nvPr/>
      </p:nvGrpSpPr>
      <p:grpSpPr>
        <a:xfrm>
          <a:off x="0" y="0"/>
          <a:ext cx="0" cy="0"/>
          <a:chOff x="0" y="0"/>
          <a:chExt cx="0" cy="0"/>
        </a:xfrm>
      </p:grpSpPr>
      <p:sp>
        <p:nvSpPr>
          <p:cNvPr id="2" name="Metin kutusu 1">
            <a:extLst>
              <a:ext uri="{FF2B5EF4-FFF2-40B4-BE49-F238E27FC236}">
                <a16:creationId xmlns:a16="http://schemas.microsoft.com/office/drawing/2014/main" id="{FFA1B873-0F2C-9662-88B9-6BFD7EAAB2BF}"/>
              </a:ext>
            </a:extLst>
          </p:cNvPr>
          <p:cNvSpPr txBox="1"/>
          <p:nvPr/>
        </p:nvSpPr>
        <p:spPr>
          <a:xfrm>
            <a:off x="7867521" y="462744"/>
            <a:ext cx="3263457" cy="523220"/>
          </a:xfrm>
          <a:prstGeom prst="rect">
            <a:avLst/>
          </a:prstGeom>
          <a:noFill/>
        </p:spPr>
        <p:txBody>
          <a:bodyPr wrap="none" rtlCol="0">
            <a:spAutoFit/>
          </a:bodyPr>
          <a:lstStyle/>
          <a:p>
            <a:r>
              <a:rPr lang="en-US" sz="2800" dirty="0">
                <a:solidFill>
                  <a:schemeClr val="bg1"/>
                </a:solidFill>
                <a:latin typeface="Helvetica" pitchFamily="2" charset="0"/>
              </a:rPr>
              <a:t>Model Architecture </a:t>
            </a:r>
            <a:endParaRPr lang="tr-TR" sz="2800" dirty="0">
              <a:solidFill>
                <a:schemeClr val="bg1"/>
              </a:solidFill>
              <a:latin typeface="Helvetica" pitchFamily="2" charset="0"/>
            </a:endParaRPr>
          </a:p>
        </p:txBody>
      </p:sp>
      <p:sp>
        <p:nvSpPr>
          <p:cNvPr id="3" name="Metin kutusu 2">
            <a:extLst>
              <a:ext uri="{FF2B5EF4-FFF2-40B4-BE49-F238E27FC236}">
                <a16:creationId xmlns:a16="http://schemas.microsoft.com/office/drawing/2014/main" id="{BE67BD10-EA62-ABBE-A709-28D7E4C888A9}"/>
              </a:ext>
            </a:extLst>
          </p:cNvPr>
          <p:cNvSpPr txBox="1"/>
          <p:nvPr/>
        </p:nvSpPr>
        <p:spPr>
          <a:xfrm>
            <a:off x="542475" y="2399437"/>
            <a:ext cx="3854750" cy="1754326"/>
          </a:xfrm>
          <a:prstGeom prst="rect">
            <a:avLst/>
          </a:prstGeom>
          <a:noFill/>
        </p:spPr>
        <p:txBody>
          <a:bodyPr wrap="square" rtlCol="0">
            <a:spAutoFit/>
          </a:bodyPr>
          <a:lstStyle/>
          <a:p>
            <a:r>
              <a:rPr lang="en-US" dirty="0">
                <a:latin typeface="Helvetica" panose="020B0604020202020204" pitchFamily="34" charset="0"/>
                <a:cs typeface="Helvetica" panose="020B0604020202020204" pitchFamily="34" charset="0"/>
              </a:rPr>
              <a:t>Total params: 4,055,976</a:t>
            </a:r>
          </a:p>
          <a:p>
            <a:r>
              <a:rPr lang="en-US" dirty="0">
                <a:latin typeface="Helvetica" panose="020B0604020202020204" pitchFamily="34" charset="0"/>
                <a:cs typeface="Helvetica" panose="020B0604020202020204" pitchFamily="34" charset="0"/>
              </a:rPr>
              <a:t>Trainable params: 4,013,953</a:t>
            </a:r>
          </a:p>
          <a:p>
            <a:r>
              <a:rPr lang="en-US" dirty="0">
                <a:latin typeface="Helvetica" panose="020B0604020202020204" pitchFamily="34" charset="0"/>
                <a:cs typeface="Helvetica" panose="020B0604020202020204" pitchFamily="34" charset="0"/>
              </a:rPr>
              <a:t>Non-trainable params: 42,023</a:t>
            </a:r>
          </a:p>
          <a:p>
            <a:endParaRPr lang="en-US" dirty="0">
              <a:latin typeface="Helvetica" panose="020B0604020202020204" pitchFamily="34" charset="0"/>
              <a:cs typeface="Helvetica" panose="020B0604020202020204" pitchFamily="34" charset="0"/>
            </a:endParaRPr>
          </a:p>
          <a:p>
            <a:r>
              <a:rPr lang="en-US" dirty="0">
                <a:latin typeface="Helvetica" panose="020B0604020202020204" pitchFamily="34" charset="0"/>
                <a:cs typeface="Helvetica" panose="020B0604020202020204" pitchFamily="34" charset="0"/>
              </a:rPr>
              <a:t>Our </a:t>
            </a:r>
            <a:r>
              <a:rPr lang="en-US" dirty="0" err="1">
                <a:latin typeface="Helvetica" panose="020B0604020202020204" pitchFamily="34" charset="0"/>
                <a:cs typeface="Helvetica" panose="020B0604020202020204" pitchFamily="34" charset="0"/>
              </a:rPr>
              <a:t>EfficientNet</a:t>
            </a:r>
            <a:r>
              <a:rPr lang="en-US" dirty="0">
                <a:latin typeface="Helvetica" panose="020B0604020202020204" pitchFamily="34" charset="0"/>
                <a:cs typeface="Helvetica" panose="020B0604020202020204" pitchFamily="34" charset="0"/>
              </a:rPr>
              <a:t> CNN has 239 layers.</a:t>
            </a:r>
          </a:p>
        </p:txBody>
      </p:sp>
      <p:sp>
        <p:nvSpPr>
          <p:cNvPr id="4" name="AutoShape 2">
            <a:extLst>
              <a:ext uri="{FF2B5EF4-FFF2-40B4-BE49-F238E27FC236}">
                <a16:creationId xmlns:a16="http://schemas.microsoft.com/office/drawing/2014/main" id="{E8351391-B412-8E04-31DC-338171D0E42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4">
            <a:extLst>
              <a:ext uri="{FF2B5EF4-FFF2-40B4-BE49-F238E27FC236}">
                <a16:creationId xmlns:a16="http://schemas.microsoft.com/office/drawing/2014/main" id="{756A21B5-3432-A2EE-7FC9-5D462A205FD5}"/>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AutoShape 8">
            <a:extLst>
              <a:ext uri="{FF2B5EF4-FFF2-40B4-BE49-F238E27FC236}">
                <a16:creationId xmlns:a16="http://schemas.microsoft.com/office/drawing/2014/main" id="{09498F63-64B5-3708-6571-6EC86B7D3E34}"/>
              </a:ext>
            </a:extLst>
          </p:cNvPr>
          <p:cNvSpPr>
            <a:spLocks noChangeAspect="1" noChangeArrowheads="1"/>
          </p:cNvSpPr>
          <p:nvPr/>
        </p:nvSpPr>
        <p:spPr bwMode="auto">
          <a:xfrm>
            <a:off x="6248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050" name="Picture 2" descr="Performance comparison between different pre-trained models and our... |  Download Scientific Diagram">
            <a:extLst>
              <a:ext uri="{FF2B5EF4-FFF2-40B4-BE49-F238E27FC236}">
                <a16:creationId xmlns:a16="http://schemas.microsoft.com/office/drawing/2014/main" id="{63A0BDCB-225A-BC40-0006-907E0892DC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26451" y="1243893"/>
            <a:ext cx="6204527" cy="52846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28283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Metin kutusu 1">
            <a:extLst>
              <a:ext uri="{FF2B5EF4-FFF2-40B4-BE49-F238E27FC236}">
                <a16:creationId xmlns:a16="http://schemas.microsoft.com/office/drawing/2014/main" id="{994F2FEA-DBB8-A175-8A46-63169EFFDEE0}"/>
              </a:ext>
            </a:extLst>
          </p:cNvPr>
          <p:cNvSpPr txBox="1"/>
          <p:nvPr/>
        </p:nvSpPr>
        <p:spPr>
          <a:xfrm>
            <a:off x="7867521" y="462744"/>
            <a:ext cx="3263457" cy="523220"/>
          </a:xfrm>
          <a:prstGeom prst="rect">
            <a:avLst/>
          </a:prstGeom>
          <a:noFill/>
        </p:spPr>
        <p:txBody>
          <a:bodyPr wrap="none" rtlCol="0">
            <a:spAutoFit/>
          </a:bodyPr>
          <a:lstStyle/>
          <a:p>
            <a:r>
              <a:rPr lang="en-US" sz="2800" dirty="0">
                <a:solidFill>
                  <a:schemeClr val="bg1"/>
                </a:solidFill>
                <a:latin typeface="Helvetica" pitchFamily="2" charset="0"/>
              </a:rPr>
              <a:t>Model Architecture </a:t>
            </a:r>
            <a:endParaRPr lang="tr-TR" sz="2800" dirty="0">
              <a:solidFill>
                <a:schemeClr val="bg1"/>
              </a:solidFill>
              <a:latin typeface="Helvetica" pitchFamily="2" charset="0"/>
            </a:endParaRPr>
          </a:p>
        </p:txBody>
      </p:sp>
      <p:sp>
        <p:nvSpPr>
          <p:cNvPr id="3" name="Metin kutusu 2">
            <a:extLst>
              <a:ext uri="{FF2B5EF4-FFF2-40B4-BE49-F238E27FC236}">
                <a16:creationId xmlns:a16="http://schemas.microsoft.com/office/drawing/2014/main" id="{42E43825-4B19-649F-CC0B-BB0219B59B93}"/>
              </a:ext>
            </a:extLst>
          </p:cNvPr>
          <p:cNvSpPr txBox="1"/>
          <p:nvPr/>
        </p:nvSpPr>
        <p:spPr>
          <a:xfrm>
            <a:off x="542475" y="2399437"/>
            <a:ext cx="3854750" cy="1754326"/>
          </a:xfrm>
          <a:prstGeom prst="rect">
            <a:avLst/>
          </a:prstGeom>
          <a:noFill/>
        </p:spPr>
        <p:txBody>
          <a:bodyPr wrap="square" rtlCol="0">
            <a:spAutoFit/>
          </a:bodyPr>
          <a:lstStyle/>
          <a:p>
            <a:r>
              <a:rPr lang="en-US" dirty="0">
                <a:latin typeface="Helvetica" panose="020B0604020202020204" pitchFamily="34" charset="0"/>
                <a:cs typeface="Helvetica" panose="020B0604020202020204" pitchFamily="34" charset="0"/>
              </a:rPr>
              <a:t>Total params: 4,055,976</a:t>
            </a:r>
          </a:p>
          <a:p>
            <a:r>
              <a:rPr lang="en-US" dirty="0">
                <a:latin typeface="Helvetica" panose="020B0604020202020204" pitchFamily="34" charset="0"/>
                <a:cs typeface="Helvetica" panose="020B0604020202020204" pitchFamily="34" charset="0"/>
              </a:rPr>
              <a:t>Trainable params: 4,013,953</a:t>
            </a:r>
          </a:p>
          <a:p>
            <a:r>
              <a:rPr lang="en-US" dirty="0">
                <a:latin typeface="Helvetica" panose="020B0604020202020204" pitchFamily="34" charset="0"/>
                <a:cs typeface="Helvetica" panose="020B0604020202020204" pitchFamily="34" charset="0"/>
              </a:rPr>
              <a:t>Non-trainable params: 42,023</a:t>
            </a:r>
          </a:p>
          <a:p>
            <a:endParaRPr lang="en-US" dirty="0">
              <a:latin typeface="Helvetica" panose="020B0604020202020204" pitchFamily="34" charset="0"/>
              <a:cs typeface="Helvetica" panose="020B0604020202020204" pitchFamily="34" charset="0"/>
            </a:endParaRPr>
          </a:p>
          <a:p>
            <a:r>
              <a:rPr lang="en-US" dirty="0">
                <a:latin typeface="Helvetica" panose="020B0604020202020204" pitchFamily="34" charset="0"/>
                <a:cs typeface="Helvetica" panose="020B0604020202020204" pitchFamily="34" charset="0"/>
              </a:rPr>
              <a:t>Our </a:t>
            </a:r>
            <a:r>
              <a:rPr lang="en-US" dirty="0" err="1">
                <a:latin typeface="Helvetica" panose="020B0604020202020204" pitchFamily="34" charset="0"/>
                <a:cs typeface="Helvetica" panose="020B0604020202020204" pitchFamily="34" charset="0"/>
              </a:rPr>
              <a:t>EfficientNet</a:t>
            </a:r>
            <a:r>
              <a:rPr lang="en-US" dirty="0">
                <a:latin typeface="Helvetica" panose="020B0604020202020204" pitchFamily="34" charset="0"/>
                <a:cs typeface="Helvetica" panose="020B0604020202020204" pitchFamily="34" charset="0"/>
              </a:rPr>
              <a:t> CNN has 239 layers.</a:t>
            </a:r>
          </a:p>
        </p:txBody>
      </p:sp>
      <p:sp>
        <p:nvSpPr>
          <p:cNvPr id="4" name="AutoShape 2">
            <a:extLst>
              <a:ext uri="{FF2B5EF4-FFF2-40B4-BE49-F238E27FC236}">
                <a16:creationId xmlns:a16="http://schemas.microsoft.com/office/drawing/2014/main" id="{E45EC3D9-9C67-02DC-6C12-C370AEA967F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4">
            <a:extLst>
              <a:ext uri="{FF2B5EF4-FFF2-40B4-BE49-F238E27FC236}">
                <a16:creationId xmlns:a16="http://schemas.microsoft.com/office/drawing/2014/main" id="{E4CD2C95-FB7C-7CFB-434E-DC471294727F}"/>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4102" name="Picture 6" descr="Comparison of different EfficientNet models. | Download Scientific Diagram">
            <a:extLst>
              <a:ext uri="{FF2B5EF4-FFF2-40B4-BE49-F238E27FC236}">
                <a16:creationId xmlns:a16="http://schemas.microsoft.com/office/drawing/2014/main" id="{2E49F9CF-0080-4D6B-76A8-941EBB1D67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74480" y="1356360"/>
            <a:ext cx="5044732" cy="1463819"/>
          </a:xfrm>
          <a:prstGeom prst="rect">
            <a:avLst/>
          </a:prstGeom>
          <a:noFill/>
          <a:extLst>
            <a:ext uri="{909E8E84-426E-40DD-AFC4-6F175D3DCCD1}">
              <a14:hiddenFill xmlns:a14="http://schemas.microsoft.com/office/drawing/2010/main">
                <a:solidFill>
                  <a:srgbClr val="FFFFFF"/>
                </a:solidFill>
              </a14:hiddenFill>
            </a:ext>
          </a:extLst>
        </p:spPr>
      </p:pic>
      <p:sp>
        <p:nvSpPr>
          <p:cNvPr id="7" name="AutoShape 8">
            <a:extLst>
              <a:ext uri="{FF2B5EF4-FFF2-40B4-BE49-F238E27FC236}">
                <a16:creationId xmlns:a16="http://schemas.microsoft.com/office/drawing/2014/main" id="{EF7DDEED-1E28-24A6-F1C7-B99368A71A5C}"/>
              </a:ext>
            </a:extLst>
          </p:cNvPr>
          <p:cNvSpPr>
            <a:spLocks noChangeAspect="1" noChangeArrowheads="1"/>
          </p:cNvSpPr>
          <p:nvPr/>
        </p:nvSpPr>
        <p:spPr bwMode="auto">
          <a:xfrm>
            <a:off x="6248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8" name="Resim 7">
            <a:extLst>
              <a:ext uri="{FF2B5EF4-FFF2-40B4-BE49-F238E27FC236}">
                <a16:creationId xmlns:a16="http://schemas.microsoft.com/office/drawing/2014/main" id="{5F31F7FB-7AFF-8E3B-9E1F-841127466BB9}"/>
              </a:ext>
            </a:extLst>
          </p:cNvPr>
          <p:cNvPicPr>
            <a:picLocks noChangeAspect="1"/>
          </p:cNvPicPr>
          <p:nvPr/>
        </p:nvPicPr>
        <p:blipFill>
          <a:blip r:embed="rId4"/>
          <a:stretch>
            <a:fillRect/>
          </a:stretch>
        </p:blipFill>
        <p:spPr>
          <a:xfrm>
            <a:off x="4045250" y="400738"/>
            <a:ext cx="2092510" cy="6208923"/>
          </a:xfrm>
          <a:prstGeom prst="rect">
            <a:avLst/>
          </a:prstGeom>
        </p:spPr>
      </p:pic>
      <p:pic>
        <p:nvPicPr>
          <p:cNvPr id="1026" name="Picture 2" descr="The EfficientNetB0 network architecture. | Download Scientific Diagram">
            <a:extLst>
              <a:ext uri="{FF2B5EF4-FFF2-40B4-BE49-F238E27FC236}">
                <a16:creationId xmlns:a16="http://schemas.microsoft.com/office/drawing/2014/main" id="{043E24F0-680D-06EC-85D9-6DF6BC2CEDA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56426" y="3076751"/>
            <a:ext cx="2742094" cy="35329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27459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CD49570F-99B4-E67F-5E4A-7CFF544E0817}"/>
            </a:ext>
          </a:extLst>
        </p:cNvPr>
        <p:cNvGrpSpPr/>
        <p:nvPr/>
      </p:nvGrpSpPr>
      <p:grpSpPr>
        <a:xfrm>
          <a:off x="0" y="0"/>
          <a:ext cx="0" cy="0"/>
          <a:chOff x="0" y="0"/>
          <a:chExt cx="0" cy="0"/>
        </a:xfrm>
      </p:grpSpPr>
      <p:sp>
        <p:nvSpPr>
          <p:cNvPr id="3" name="Metin kutusu 2">
            <a:extLst>
              <a:ext uri="{FF2B5EF4-FFF2-40B4-BE49-F238E27FC236}">
                <a16:creationId xmlns:a16="http://schemas.microsoft.com/office/drawing/2014/main" id="{B7E0FFDB-3164-187C-D61E-DF12D9AC554A}"/>
              </a:ext>
            </a:extLst>
          </p:cNvPr>
          <p:cNvSpPr txBox="1"/>
          <p:nvPr/>
        </p:nvSpPr>
        <p:spPr>
          <a:xfrm>
            <a:off x="426720" y="1154088"/>
            <a:ext cx="11338560" cy="2308324"/>
          </a:xfrm>
          <a:prstGeom prst="rect">
            <a:avLst/>
          </a:prstGeom>
          <a:noFill/>
        </p:spPr>
        <p:txBody>
          <a:bodyPr wrap="square" rtlCol="0">
            <a:spAutoFit/>
          </a:bodyPr>
          <a:lstStyle/>
          <a:p>
            <a:pPr marL="285750" indent="-285750">
              <a:buFont typeface="Arial" panose="020B0604020202020204" pitchFamily="34" charset="0"/>
              <a:buChar char="•"/>
            </a:pPr>
            <a:r>
              <a:rPr lang="en-US" dirty="0"/>
              <a:t>Training was conducted over 5 epochs with a batch size of 4. Early stopping was applied to terminate the training process when validation performance plateaued, ensuring the prevention of overfitting. The training and validation accuracy trends (Figure 1) show consistent improvement across epochs, with the model achieving stable accuracy by the final epoch. Similarly, the training and validation loss curves exhibit a steady reduction, reflecting effective learning throughout the training process. These results demonstrate the model's ability to generalize well to the validation set while maintaining robust performance during training.</a:t>
            </a:r>
            <a:endParaRPr lang="en-US" sz="1600" dirty="0">
              <a:latin typeface="Helvetica" panose="020B0604020202020204" pitchFamily="34" charset="0"/>
              <a:cs typeface="Helvetica" panose="020B0604020202020204" pitchFamily="34" charset="0"/>
            </a:endParaRPr>
          </a:p>
          <a:p>
            <a:endParaRPr lang="en-US" b="1" dirty="0">
              <a:latin typeface="Helvetica" panose="020B0604020202020204" pitchFamily="34" charset="0"/>
              <a:cs typeface="Helvetica" panose="020B0604020202020204" pitchFamily="34" charset="0"/>
            </a:endParaRPr>
          </a:p>
          <a:p>
            <a:r>
              <a:rPr lang="en-US" dirty="0">
                <a:latin typeface="Helvetica" panose="020B0604020202020204" pitchFamily="34" charset="0"/>
                <a:cs typeface="Helvetica" panose="020B0604020202020204" pitchFamily="34" charset="0"/>
              </a:rPr>
              <a:t> </a:t>
            </a:r>
            <a:endParaRPr lang="tr-TR" dirty="0">
              <a:latin typeface="Helvetica" panose="020B0604020202020204" pitchFamily="34" charset="0"/>
              <a:cs typeface="Helvetica" panose="020B0604020202020204" pitchFamily="34" charset="0"/>
            </a:endParaRPr>
          </a:p>
        </p:txBody>
      </p:sp>
      <p:sp>
        <p:nvSpPr>
          <p:cNvPr id="6" name="Metin kutusu 5">
            <a:extLst>
              <a:ext uri="{FF2B5EF4-FFF2-40B4-BE49-F238E27FC236}">
                <a16:creationId xmlns:a16="http://schemas.microsoft.com/office/drawing/2014/main" id="{00CDB023-702F-BA42-011D-C64B47276A11}"/>
              </a:ext>
            </a:extLst>
          </p:cNvPr>
          <p:cNvSpPr txBox="1"/>
          <p:nvPr/>
        </p:nvSpPr>
        <p:spPr>
          <a:xfrm>
            <a:off x="7867521" y="462744"/>
            <a:ext cx="2870786" cy="523220"/>
          </a:xfrm>
          <a:prstGeom prst="rect">
            <a:avLst/>
          </a:prstGeom>
          <a:noFill/>
        </p:spPr>
        <p:txBody>
          <a:bodyPr wrap="none" rtlCol="0">
            <a:spAutoFit/>
          </a:bodyPr>
          <a:lstStyle/>
          <a:p>
            <a:r>
              <a:rPr lang="en-US" sz="2800" dirty="0">
                <a:solidFill>
                  <a:schemeClr val="bg1"/>
                </a:solidFill>
                <a:latin typeface="Helvetica" pitchFamily="2" charset="0"/>
              </a:rPr>
              <a:t>Training Process</a:t>
            </a:r>
            <a:endParaRPr lang="tr-TR" sz="2800" dirty="0">
              <a:solidFill>
                <a:schemeClr val="bg1"/>
              </a:solidFill>
              <a:latin typeface="Helvetica" pitchFamily="2" charset="0"/>
            </a:endParaRPr>
          </a:p>
        </p:txBody>
      </p:sp>
      <p:pic>
        <p:nvPicPr>
          <p:cNvPr id="2" name="Resim 1">
            <a:extLst>
              <a:ext uri="{FF2B5EF4-FFF2-40B4-BE49-F238E27FC236}">
                <a16:creationId xmlns:a16="http://schemas.microsoft.com/office/drawing/2014/main" id="{AD6A9ECA-9E6A-D895-5302-8D7A3C3777B8}"/>
              </a:ext>
            </a:extLst>
          </p:cNvPr>
          <p:cNvPicPr>
            <a:picLocks noChangeAspect="1"/>
          </p:cNvPicPr>
          <p:nvPr/>
        </p:nvPicPr>
        <p:blipFill>
          <a:blip r:embed="rId3"/>
          <a:stretch>
            <a:fillRect/>
          </a:stretch>
        </p:blipFill>
        <p:spPr>
          <a:xfrm>
            <a:off x="914400" y="3630536"/>
            <a:ext cx="5087112" cy="2836065"/>
          </a:xfrm>
          <a:prstGeom prst="rect">
            <a:avLst/>
          </a:prstGeom>
        </p:spPr>
      </p:pic>
      <p:pic>
        <p:nvPicPr>
          <p:cNvPr id="4" name="Resim 3">
            <a:extLst>
              <a:ext uri="{FF2B5EF4-FFF2-40B4-BE49-F238E27FC236}">
                <a16:creationId xmlns:a16="http://schemas.microsoft.com/office/drawing/2014/main" id="{015152B2-A294-34D3-AA2A-60624F9EA93B}"/>
              </a:ext>
            </a:extLst>
          </p:cNvPr>
          <p:cNvPicPr>
            <a:picLocks noChangeAspect="1"/>
          </p:cNvPicPr>
          <p:nvPr/>
        </p:nvPicPr>
        <p:blipFill>
          <a:blip r:embed="rId4"/>
          <a:stretch>
            <a:fillRect/>
          </a:stretch>
        </p:blipFill>
        <p:spPr>
          <a:xfrm>
            <a:off x="6370794" y="3630536"/>
            <a:ext cx="5150628" cy="2836065"/>
          </a:xfrm>
          <a:prstGeom prst="rect">
            <a:avLst/>
          </a:prstGeom>
        </p:spPr>
      </p:pic>
    </p:spTree>
    <p:extLst>
      <p:ext uri="{BB962C8B-B14F-4D97-AF65-F5344CB8AC3E}">
        <p14:creationId xmlns:p14="http://schemas.microsoft.com/office/powerpoint/2010/main" val="41091607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F23DD7EA-CD89-731E-F9A1-0EDDBB849475}"/>
            </a:ext>
          </a:extLst>
        </p:cNvPr>
        <p:cNvGrpSpPr/>
        <p:nvPr/>
      </p:nvGrpSpPr>
      <p:grpSpPr>
        <a:xfrm>
          <a:off x="0" y="0"/>
          <a:ext cx="0" cy="0"/>
          <a:chOff x="0" y="0"/>
          <a:chExt cx="0" cy="0"/>
        </a:xfrm>
      </p:grpSpPr>
      <p:sp>
        <p:nvSpPr>
          <p:cNvPr id="2" name="Metin kutusu 1">
            <a:extLst>
              <a:ext uri="{FF2B5EF4-FFF2-40B4-BE49-F238E27FC236}">
                <a16:creationId xmlns:a16="http://schemas.microsoft.com/office/drawing/2014/main" id="{F24AF2AC-1F3F-B298-321B-0CA5551CF8E9}"/>
              </a:ext>
            </a:extLst>
          </p:cNvPr>
          <p:cNvSpPr txBox="1"/>
          <p:nvPr/>
        </p:nvSpPr>
        <p:spPr>
          <a:xfrm>
            <a:off x="7602345" y="462744"/>
            <a:ext cx="3397020" cy="523220"/>
          </a:xfrm>
          <a:prstGeom prst="rect">
            <a:avLst/>
          </a:prstGeom>
          <a:noFill/>
        </p:spPr>
        <p:txBody>
          <a:bodyPr wrap="none" rtlCol="0">
            <a:spAutoFit/>
          </a:bodyPr>
          <a:lstStyle/>
          <a:p>
            <a:r>
              <a:rPr lang="en-US" sz="2800" dirty="0">
                <a:solidFill>
                  <a:schemeClr val="bg1"/>
                </a:solidFill>
                <a:latin typeface="Helvetica" pitchFamily="2" charset="0"/>
              </a:rPr>
              <a:t>Layer Visualization  </a:t>
            </a:r>
            <a:endParaRPr lang="tr-TR" sz="2800" dirty="0">
              <a:solidFill>
                <a:schemeClr val="bg1"/>
              </a:solidFill>
              <a:latin typeface="Helvetica" pitchFamily="2" charset="0"/>
            </a:endParaRPr>
          </a:p>
        </p:txBody>
      </p:sp>
      <p:sp>
        <p:nvSpPr>
          <p:cNvPr id="10" name="AutoShape 2">
            <a:extLst>
              <a:ext uri="{FF2B5EF4-FFF2-40B4-BE49-F238E27FC236}">
                <a16:creationId xmlns:a16="http://schemas.microsoft.com/office/drawing/2014/main" id="{705F2AA2-9CBB-18CD-AEB7-A4D512AC9D9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4" name="Resim 3">
            <a:extLst>
              <a:ext uri="{FF2B5EF4-FFF2-40B4-BE49-F238E27FC236}">
                <a16:creationId xmlns:a16="http://schemas.microsoft.com/office/drawing/2014/main" id="{F46BEEE6-E6F9-6D83-24E5-25F204E2B903}"/>
              </a:ext>
            </a:extLst>
          </p:cNvPr>
          <p:cNvPicPr>
            <a:picLocks noChangeAspect="1"/>
          </p:cNvPicPr>
          <p:nvPr/>
        </p:nvPicPr>
        <p:blipFill>
          <a:blip r:embed="rId3"/>
          <a:stretch>
            <a:fillRect/>
          </a:stretch>
        </p:blipFill>
        <p:spPr>
          <a:xfrm>
            <a:off x="0" y="1672934"/>
            <a:ext cx="12192000" cy="4094023"/>
          </a:xfrm>
          <a:prstGeom prst="rect">
            <a:avLst/>
          </a:prstGeom>
        </p:spPr>
      </p:pic>
    </p:spTree>
    <p:extLst>
      <p:ext uri="{BB962C8B-B14F-4D97-AF65-F5344CB8AC3E}">
        <p14:creationId xmlns:p14="http://schemas.microsoft.com/office/powerpoint/2010/main" val="4472188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78E4E4A6-86D1-E9E1-4314-762DAAB445DB}"/>
            </a:ext>
          </a:extLst>
        </p:cNvPr>
        <p:cNvGrpSpPr/>
        <p:nvPr/>
      </p:nvGrpSpPr>
      <p:grpSpPr>
        <a:xfrm>
          <a:off x="0" y="0"/>
          <a:ext cx="0" cy="0"/>
          <a:chOff x="0" y="0"/>
          <a:chExt cx="0" cy="0"/>
        </a:xfrm>
      </p:grpSpPr>
      <p:sp>
        <p:nvSpPr>
          <p:cNvPr id="2" name="Metin kutusu 1">
            <a:extLst>
              <a:ext uri="{FF2B5EF4-FFF2-40B4-BE49-F238E27FC236}">
                <a16:creationId xmlns:a16="http://schemas.microsoft.com/office/drawing/2014/main" id="{A13F3725-67C4-B83B-92DF-8E09310ACB3A}"/>
              </a:ext>
            </a:extLst>
          </p:cNvPr>
          <p:cNvSpPr txBox="1"/>
          <p:nvPr/>
        </p:nvSpPr>
        <p:spPr>
          <a:xfrm>
            <a:off x="7602345" y="462744"/>
            <a:ext cx="3397020" cy="523220"/>
          </a:xfrm>
          <a:prstGeom prst="rect">
            <a:avLst/>
          </a:prstGeom>
          <a:noFill/>
        </p:spPr>
        <p:txBody>
          <a:bodyPr wrap="none" rtlCol="0">
            <a:spAutoFit/>
          </a:bodyPr>
          <a:lstStyle/>
          <a:p>
            <a:r>
              <a:rPr lang="en-US" sz="2800" dirty="0">
                <a:solidFill>
                  <a:schemeClr val="bg1"/>
                </a:solidFill>
                <a:latin typeface="Helvetica" pitchFamily="2" charset="0"/>
              </a:rPr>
              <a:t>Layer Visualization  </a:t>
            </a:r>
            <a:endParaRPr lang="tr-TR" sz="2800" dirty="0">
              <a:solidFill>
                <a:schemeClr val="bg1"/>
              </a:solidFill>
              <a:latin typeface="Helvetica" pitchFamily="2" charset="0"/>
            </a:endParaRPr>
          </a:p>
        </p:txBody>
      </p:sp>
      <p:sp>
        <p:nvSpPr>
          <p:cNvPr id="10" name="AutoShape 2">
            <a:extLst>
              <a:ext uri="{FF2B5EF4-FFF2-40B4-BE49-F238E27FC236}">
                <a16:creationId xmlns:a16="http://schemas.microsoft.com/office/drawing/2014/main" id="{8F32F8C1-2474-142E-2320-50F46412D6E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Resim 4">
            <a:extLst>
              <a:ext uri="{FF2B5EF4-FFF2-40B4-BE49-F238E27FC236}">
                <a16:creationId xmlns:a16="http://schemas.microsoft.com/office/drawing/2014/main" id="{10EF8B9F-4776-1CA6-ACA7-6A1AF6954D47}"/>
              </a:ext>
            </a:extLst>
          </p:cNvPr>
          <p:cNvPicPr>
            <a:picLocks noChangeAspect="1"/>
          </p:cNvPicPr>
          <p:nvPr/>
        </p:nvPicPr>
        <p:blipFill>
          <a:blip r:embed="rId3"/>
          <a:stretch>
            <a:fillRect/>
          </a:stretch>
        </p:blipFill>
        <p:spPr>
          <a:xfrm>
            <a:off x="320039" y="1304354"/>
            <a:ext cx="4464939" cy="1605414"/>
          </a:xfrm>
          <a:prstGeom prst="rect">
            <a:avLst/>
          </a:prstGeom>
        </p:spPr>
      </p:pic>
      <p:pic>
        <p:nvPicPr>
          <p:cNvPr id="7" name="Resim 6">
            <a:extLst>
              <a:ext uri="{FF2B5EF4-FFF2-40B4-BE49-F238E27FC236}">
                <a16:creationId xmlns:a16="http://schemas.microsoft.com/office/drawing/2014/main" id="{037A858E-393F-63F9-C3B4-B5A7A12FCF2D}"/>
              </a:ext>
            </a:extLst>
          </p:cNvPr>
          <p:cNvPicPr>
            <a:picLocks noChangeAspect="1"/>
          </p:cNvPicPr>
          <p:nvPr/>
        </p:nvPicPr>
        <p:blipFill>
          <a:blip r:embed="rId4"/>
          <a:stretch>
            <a:fillRect/>
          </a:stretch>
        </p:blipFill>
        <p:spPr>
          <a:xfrm>
            <a:off x="320039" y="3323783"/>
            <a:ext cx="4800602" cy="1968297"/>
          </a:xfrm>
          <a:prstGeom prst="rect">
            <a:avLst/>
          </a:prstGeom>
        </p:spPr>
      </p:pic>
      <p:sp>
        <p:nvSpPr>
          <p:cNvPr id="8" name="Metin kutusu 7">
            <a:extLst>
              <a:ext uri="{FF2B5EF4-FFF2-40B4-BE49-F238E27FC236}">
                <a16:creationId xmlns:a16="http://schemas.microsoft.com/office/drawing/2014/main" id="{B522718D-0880-9A4A-A71D-7A5A0B692A4F}"/>
              </a:ext>
            </a:extLst>
          </p:cNvPr>
          <p:cNvSpPr txBox="1"/>
          <p:nvPr/>
        </p:nvSpPr>
        <p:spPr>
          <a:xfrm>
            <a:off x="320038" y="2978276"/>
            <a:ext cx="1554480" cy="276999"/>
          </a:xfrm>
          <a:prstGeom prst="rect">
            <a:avLst/>
          </a:prstGeom>
          <a:noFill/>
        </p:spPr>
        <p:txBody>
          <a:bodyPr wrap="square" rtlCol="0">
            <a:spAutoFit/>
          </a:bodyPr>
          <a:lstStyle/>
          <a:p>
            <a:r>
              <a:rPr lang="en-US" sz="1200" dirty="0"/>
              <a:t>rescaling</a:t>
            </a:r>
          </a:p>
        </p:txBody>
      </p:sp>
      <p:cxnSp>
        <p:nvCxnSpPr>
          <p:cNvPr id="11" name="Düz Ok Bağlayıcısı 10">
            <a:extLst>
              <a:ext uri="{FF2B5EF4-FFF2-40B4-BE49-F238E27FC236}">
                <a16:creationId xmlns:a16="http://schemas.microsoft.com/office/drawing/2014/main" id="{10968D39-D193-1BF4-6A5C-543167C1BFA7}"/>
              </a:ext>
            </a:extLst>
          </p:cNvPr>
          <p:cNvCxnSpPr>
            <a:cxnSpLocks/>
          </p:cNvCxnSpPr>
          <p:nvPr/>
        </p:nvCxnSpPr>
        <p:spPr>
          <a:xfrm>
            <a:off x="2057400" y="2978276"/>
            <a:ext cx="0" cy="27699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13" name="Resim 12">
            <a:extLst>
              <a:ext uri="{FF2B5EF4-FFF2-40B4-BE49-F238E27FC236}">
                <a16:creationId xmlns:a16="http://schemas.microsoft.com/office/drawing/2014/main" id="{59B4F327-2CC5-D796-0BBE-8697F7C67E38}"/>
              </a:ext>
            </a:extLst>
          </p:cNvPr>
          <p:cNvPicPr>
            <a:picLocks noChangeAspect="1"/>
          </p:cNvPicPr>
          <p:nvPr/>
        </p:nvPicPr>
        <p:blipFill>
          <a:blip r:embed="rId5"/>
          <a:stretch>
            <a:fillRect/>
          </a:stretch>
        </p:blipFill>
        <p:spPr>
          <a:xfrm>
            <a:off x="6469242" y="3749406"/>
            <a:ext cx="5474180" cy="1968297"/>
          </a:xfrm>
          <a:prstGeom prst="rect">
            <a:avLst/>
          </a:prstGeom>
        </p:spPr>
      </p:pic>
      <p:pic>
        <p:nvPicPr>
          <p:cNvPr id="15" name="Resim 14">
            <a:extLst>
              <a:ext uri="{FF2B5EF4-FFF2-40B4-BE49-F238E27FC236}">
                <a16:creationId xmlns:a16="http://schemas.microsoft.com/office/drawing/2014/main" id="{A66A7E04-68CF-4872-6EA6-E3B6F03AB79E}"/>
              </a:ext>
            </a:extLst>
          </p:cNvPr>
          <p:cNvPicPr>
            <a:picLocks noChangeAspect="1"/>
          </p:cNvPicPr>
          <p:nvPr/>
        </p:nvPicPr>
        <p:blipFill>
          <a:blip r:embed="rId6"/>
          <a:stretch>
            <a:fillRect/>
          </a:stretch>
        </p:blipFill>
        <p:spPr>
          <a:xfrm>
            <a:off x="6531113" y="1023544"/>
            <a:ext cx="5350439" cy="1923804"/>
          </a:xfrm>
          <a:prstGeom prst="rect">
            <a:avLst/>
          </a:prstGeom>
        </p:spPr>
      </p:pic>
      <p:sp>
        <p:nvSpPr>
          <p:cNvPr id="16" name="Metin kutusu 15">
            <a:extLst>
              <a:ext uri="{FF2B5EF4-FFF2-40B4-BE49-F238E27FC236}">
                <a16:creationId xmlns:a16="http://schemas.microsoft.com/office/drawing/2014/main" id="{F6A9A679-DF20-F074-7EA5-E70AF7BAA889}"/>
              </a:ext>
            </a:extLst>
          </p:cNvPr>
          <p:cNvSpPr txBox="1"/>
          <p:nvPr/>
        </p:nvSpPr>
        <p:spPr>
          <a:xfrm>
            <a:off x="5318760" y="4237100"/>
            <a:ext cx="1554480" cy="276999"/>
          </a:xfrm>
          <a:prstGeom prst="rect">
            <a:avLst/>
          </a:prstGeom>
          <a:noFill/>
        </p:spPr>
        <p:txBody>
          <a:bodyPr wrap="square" rtlCol="0">
            <a:spAutoFit/>
          </a:bodyPr>
          <a:lstStyle/>
          <a:p>
            <a:r>
              <a:rPr lang="en-US" sz="1200" dirty="0"/>
              <a:t>normalization</a:t>
            </a:r>
          </a:p>
        </p:txBody>
      </p:sp>
      <p:cxnSp>
        <p:nvCxnSpPr>
          <p:cNvPr id="18" name="Düz Ok Bağlayıcısı 17">
            <a:extLst>
              <a:ext uri="{FF2B5EF4-FFF2-40B4-BE49-F238E27FC236}">
                <a16:creationId xmlns:a16="http://schemas.microsoft.com/office/drawing/2014/main" id="{30320DA3-7D5E-E9BC-2DA0-B0AD1B7193FE}"/>
              </a:ext>
            </a:extLst>
          </p:cNvPr>
          <p:cNvCxnSpPr>
            <a:cxnSpLocks/>
          </p:cNvCxnSpPr>
          <p:nvPr/>
        </p:nvCxnSpPr>
        <p:spPr>
          <a:xfrm>
            <a:off x="5382769" y="4733555"/>
            <a:ext cx="71323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Düz Ok Bağlayıcısı 20">
            <a:extLst>
              <a:ext uri="{FF2B5EF4-FFF2-40B4-BE49-F238E27FC236}">
                <a16:creationId xmlns:a16="http://schemas.microsoft.com/office/drawing/2014/main" id="{C0EB914D-34D0-EB5A-0988-8A4B07B74A1E}"/>
              </a:ext>
            </a:extLst>
          </p:cNvPr>
          <p:cNvCxnSpPr>
            <a:cxnSpLocks/>
          </p:cNvCxnSpPr>
          <p:nvPr/>
        </p:nvCxnSpPr>
        <p:spPr>
          <a:xfrm flipV="1">
            <a:off x="8570976" y="3011435"/>
            <a:ext cx="0" cy="47280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3" name="Metin kutusu 22">
            <a:extLst>
              <a:ext uri="{FF2B5EF4-FFF2-40B4-BE49-F238E27FC236}">
                <a16:creationId xmlns:a16="http://schemas.microsoft.com/office/drawing/2014/main" id="{4C112BD2-8469-81A8-BF1B-BAC833C49061}"/>
              </a:ext>
            </a:extLst>
          </p:cNvPr>
          <p:cNvSpPr txBox="1"/>
          <p:nvPr/>
        </p:nvSpPr>
        <p:spPr>
          <a:xfrm>
            <a:off x="6873240" y="3047164"/>
            <a:ext cx="1554480" cy="276999"/>
          </a:xfrm>
          <a:prstGeom prst="rect">
            <a:avLst/>
          </a:prstGeom>
          <a:noFill/>
        </p:spPr>
        <p:txBody>
          <a:bodyPr wrap="square" rtlCol="0">
            <a:spAutoFit/>
          </a:bodyPr>
          <a:lstStyle/>
          <a:p>
            <a:r>
              <a:rPr lang="en-US" sz="1200" dirty="0"/>
              <a:t>convolution</a:t>
            </a:r>
          </a:p>
        </p:txBody>
      </p:sp>
    </p:spTree>
    <p:extLst>
      <p:ext uri="{BB962C8B-B14F-4D97-AF65-F5344CB8AC3E}">
        <p14:creationId xmlns:p14="http://schemas.microsoft.com/office/powerpoint/2010/main" val="17496151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Metin kutusu 1">
            <a:extLst>
              <a:ext uri="{FF2B5EF4-FFF2-40B4-BE49-F238E27FC236}">
                <a16:creationId xmlns:a16="http://schemas.microsoft.com/office/drawing/2014/main" id="{DE0326C5-F4C3-0B60-B446-CAD18DD804D3}"/>
              </a:ext>
            </a:extLst>
          </p:cNvPr>
          <p:cNvSpPr txBox="1"/>
          <p:nvPr/>
        </p:nvSpPr>
        <p:spPr>
          <a:xfrm>
            <a:off x="7602345" y="462744"/>
            <a:ext cx="1963999" cy="523220"/>
          </a:xfrm>
          <a:prstGeom prst="rect">
            <a:avLst/>
          </a:prstGeom>
          <a:noFill/>
        </p:spPr>
        <p:txBody>
          <a:bodyPr wrap="none" rtlCol="0">
            <a:spAutoFit/>
          </a:bodyPr>
          <a:lstStyle/>
          <a:p>
            <a:r>
              <a:rPr lang="en-US" sz="2800" dirty="0">
                <a:solidFill>
                  <a:schemeClr val="bg1"/>
                </a:solidFill>
                <a:latin typeface="Helvetica" pitchFamily="2" charset="0"/>
              </a:rPr>
              <a:t>Evaluation </a:t>
            </a:r>
            <a:endParaRPr lang="tr-TR" sz="2800" dirty="0">
              <a:solidFill>
                <a:schemeClr val="bg1"/>
              </a:solidFill>
              <a:latin typeface="Helvetica" pitchFamily="2" charset="0"/>
            </a:endParaRPr>
          </a:p>
        </p:txBody>
      </p:sp>
      <p:sp>
        <p:nvSpPr>
          <p:cNvPr id="10" name="AutoShape 2">
            <a:extLst>
              <a:ext uri="{FF2B5EF4-FFF2-40B4-BE49-F238E27FC236}">
                <a16:creationId xmlns:a16="http://schemas.microsoft.com/office/drawing/2014/main" id="{22CB7689-A734-F7AD-2EE7-4E197C85AD28}"/>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AutoShape 4">
            <a:extLst>
              <a:ext uri="{FF2B5EF4-FFF2-40B4-BE49-F238E27FC236}">
                <a16:creationId xmlns:a16="http://schemas.microsoft.com/office/drawing/2014/main" id="{FBC1E390-ED66-5E33-E6DC-315F5C0B6023}"/>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2" name="Resim 11">
            <a:extLst>
              <a:ext uri="{FF2B5EF4-FFF2-40B4-BE49-F238E27FC236}">
                <a16:creationId xmlns:a16="http://schemas.microsoft.com/office/drawing/2014/main" id="{1F3BE318-2BB4-28DD-1D8F-3DF7B199BE20}"/>
              </a:ext>
            </a:extLst>
          </p:cNvPr>
          <p:cNvPicPr>
            <a:picLocks noChangeAspect="1"/>
          </p:cNvPicPr>
          <p:nvPr/>
        </p:nvPicPr>
        <p:blipFill>
          <a:blip r:embed="rId3"/>
          <a:stretch>
            <a:fillRect/>
          </a:stretch>
        </p:blipFill>
        <p:spPr>
          <a:xfrm>
            <a:off x="932705" y="1607397"/>
            <a:ext cx="7723597" cy="4252806"/>
          </a:xfrm>
          <a:prstGeom prst="rect">
            <a:avLst/>
          </a:prstGeom>
        </p:spPr>
      </p:pic>
      <p:sp>
        <p:nvSpPr>
          <p:cNvPr id="3" name="Metin kutusu 2">
            <a:extLst>
              <a:ext uri="{FF2B5EF4-FFF2-40B4-BE49-F238E27FC236}">
                <a16:creationId xmlns:a16="http://schemas.microsoft.com/office/drawing/2014/main" id="{7A25B1F9-BBFD-56D1-9250-C96C8397B981}"/>
              </a:ext>
            </a:extLst>
          </p:cNvPr>
          <p:cNvSpPr txBox="1"/>
          <p:nvPr/>
        </p:nvSpPr>
        <p:spPr>
          <a:xfrm>
            <a:off x="9025128" y="1746504"/>
            <a:ext cx="2779776" cy="923330"/>
          </a:xfrm>
          <a:prstGeom prst="rect">
            <a:avLst/>
          </a:prstGeom>
          <a:noFill/>
        </p:spPr>
        <p:txBody>
          <a:bodyPr wrap="square" rtlCol="0">
            <a:spAutoFit/>
          </a:bodyPr>
          <a:lstStyle/>
          <a:p>
            <a:r>
              <a:rPr lang="en-US" dirty="0"/>
              <a:t>Final validation accuracy reached approximately 84%. </a:t>
            </a:r>
          </a:p>
        </p:txBody>
      </p:sp>
    </p:spTree>
    <p:extLst>
      <p:ext uri="{BB962C8B-B14F-4D97-AF65-F5344CB8AC3E}">
        <p14:creationId xmlns:p14="http://schemas.microsoft.com/office/powerpoint/2010/main" val="26260415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Metin kutusu 1">
            <a:extLst>
              <a:ext uri="{FF2B5EF4-FFF2-40B4-BE49-F238E27FC236}">
                <a16:creationId xmlns:a16="http://schemas.microsoft.com/office/drawing/2014/main" id="{BCD688AB-7DAA-24DD-28CF-44BA483A30B0}"/>
              </a:ext>
            </a:extLst>
          </p:cNvPr>
          <p:cNvSpPr txBox="1"/>
          <p:nvPr/>
        </p:nvSpPr>
        <p:spPr>
          <a:xfrm>
            <a:off x="7867521" y="462744"/>
            <a:ext cx="1383712" cy="523220"/>
          </a:xfrm>
          <a:prstGeom prst="rect">
            <a:avLst/>
          </a:prstGeom>
          <a:noFill/>
        </p:spPr>
        <p:txBody>
          <a:bodyPr wrap="none" rtlCol="0">
            <a:spAutoFit/>
          </a:bodyPr>
          <a:lstStyle/>
          <a:p>
            <a:r>
              <a:rPr lang="en-US" sz="2800" dirty="0">
                <a:solidFill>
                  <a:schemeClr val="bg1"/>
                </a:solidFill>
                <a:latin typeface="Helvetica" pitchFamily="2" charset="0"/>
              </a:rPr>
              <a:t>Results</a:t>
            </a:r>
            <a:endParaRPr lang="tr-TR" sz="2800" dirty="0">
              <a:solidFill>
                <a:schemeClr val="bg1"/>
              </a:solidFill>
              <a:latin typeface="Helvetica" pitchFamily="2" charset="0"/>
            </a:endParaRPr>
          </a:p>
        </p:txBody>
      </p:sp>
      <p:pic>
        <p:nvPicPr>
          <p:cNvPr id="20" name="Resim 19" descr="ağaç, dış mekan, yeryüzü bitkisi, çekirdekli bitki içeren bir resim&#10;&#10;Açıklama otomatik olarak oluşturuldu">
            <a:extLst>
              <a:ext uri="{FF2B5EF4-FFF2-40B4-BE49-F238E27FC236}">
                <a16:creationId xmlns:a16="http://schemas.microsoft.com/office/drawing/2014/main" id="{1F5E8243-E921-A12E-2649-1539DAB3452E}"/>
              </a:ext>
            </a:extLst>
          </p:cNvPr>
          <p:cNvPicPr>
            <a:picLocks noChangeAspect="1"/>
          </p:cNvPicPr>
          <p:nvPr/>
        </p:nvPicPr>
        <p:blipFill>
          <a:blip r:embed="rId3"/>
          <a:stretch>
            <a:fillRect/>
          </a:stretch>
        </p:blipFill>
        <p:spPr>
          <a:xfrm>
            <a:off x="7843036" y="2235708"/>
            <a:ext cx="4236720" cy="3177540"/>
          </a:xfrm>
          <a:prstGeom prst="rect">
            <a:avLst/>
          </a:prstGeom>
        </p:spPr>
      </p:pic>
      <p:pic>
        <p:nvPicPr>
          <p:cNvPr id="22" name="Resim 21">
            <a:extLst>
              <a:ext uri="{FF2B5EF4-FFF2-40B4-BE49-F238E27FC236}">
                <a16:creationId xmlns:a16="http://schemas.microsoft.com/office/drawing/2014/main" id="{6C503E85-0701-08C2-87C4-EC241436415C}"/>
              </a:ext>
            </a:extLst>
          </p:cNvPr>
          <p:cNvPicPr>
            <a:picLocks noChangeAspect="1"/>
          </p:cNvPicPr>
          <p:nvPr/>
        </p:nvPicPr>
        <p:blipFill>
          <a:blip r:embed="rId4"/>
          <a:stretch>
            <a:fillRect/>
          </a:stretch>
        </p:blipFill>
        <p:spPr>
          <a:xfrm>
            <a:off x="743180" y="1678927"/>
            <a:ext cx="6544588" cy="3734321"/>
          </a:xfrm>
          <a:prstGeom prst="rect">
            <a:avLst/>
          </a:prstGeom>
        </p:spPr>
      </p:pic>
    </p:spTree>
    <p:extLst>
      <p:ext uri="{BB962C8B-B14F-4D97-AF65-F5344CB8AC3E}">
        <p14:creationId xmlns:p14="http://schemas.microsoft.com/office/powerpoint/2010/main" val="32690964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F8728E2B-06D0-8776-C8FB-734FA4F7B947}"/>
            </a:ext>
          </a:extLst>
        </p:cNvPr>
        <p:cNvGrpSpPr/>
        <p:nvPr/>
      </p:nvGrpSpPr>
      <p:grpSpPr>
        <a:xfrm>
          <a:off x="0" y="0"/>
          <a:ext cx="0" cy="0"/>
          <a:chOff x="0" y="0"/>
          <a:chExt cx="0" cy="0"/>
        </a:xfrm>
      </p:grpSpPr>
      <p:sp>
        <p:nvSpPr>
          <p:cNvPr id="2" name="Metin kutusu 1">
            <a:extLst>
              <a:ext uri="{FF2B5EF4-FFF2-40B4-BE49-F238E27FC236}">
                <a16:creationId xmlns:a16="http://schemas.microsoft.com/office/drawing/2014/main" id="{6A9AC954-AB0A-1FD0-DB1F-41ECC4EF2A3E}"/>
              </a:ext>
            </a:extLst>
          </p:cNvPr>
          <p:cNvSpPr txBox="1"/>
          <p:nvPr/>
        </p:nvSpPr>
        <p:spPr>
          <a:xfrm>
            <a:off x="2748799" y="1981122"/>
            <a:ext cx="6694398" cy="707886"/>
          </a:xfrm>
          <a:prstGeom prst="rect">
            <a:avLst/>
          </a:prstGeom>
          <a:noFill/>
        </p:spPr>
        <p:txBody>
          <a:bodyPr wrap="square" rtlCol="0" anchor="ctr">
            <a:spAutoFit/>
          </a:bodyPr>
          <a:lstStyle/>
          <a:p>
            <a:pPr algn="ctr"/>
            <a:r>
              <a:rPr lang="en-US" sz="2000" b="1" dirty="0">
                <a:solidFill>
                  <a:srgbClr val="012855"/>
                </a:solidFill>
                <a:latin typeface="Helvetica" pitchFamily="2" charset="0"/>
              </a:rPr>
              <a:t>BBL588E Advanced Topics in Image Analysis Term Project Presentation</a:t>
            </a:r>
            <a:endParaRPr lang="tr-TR" sz="2000" b="1" dirty="0">
              <a:solidFill>
                <a:srgbClr val="012855"/>
              </a:solidFill>
              <a:latin typeface="Helvetica" pitchFamily="2" charset="0"/>
            </a:endParaRPr>
          </a:p>
        </p:txBody>
      </p:sp>
      <p:sp>
        <p:nvSpPr>
          <p:cNvPr id="3" name="Metin kutusu 2">
            <a:extLst>
              <a:ext uri="{FF2B5EF4-FFF2-40B4-BE49-F238E27FC236}">
                <a16:creationId xmlns:a16="http://schemas.microsoft.com/office/drawing/2014/main" id="{E8215927-8E5F-C911-BD6F-B0AF2EC1A5AF}"/>
              </a:ext>
            </a:extLst>
          </p:cNvPr>
          <p:cNvSpPr txBox="1"/>
          <p:nvPr/>
        </p:nvSpPr>
        <p:spPr>
          <a:xfrm>
            <a:off x="4017016" y="6102866"/>
            <a:ext cx="4157965" cy="400110"/>
          </a:xfrm>
          <a:prstGeom prst="rect">
            <a:avLst/>
          </a:prstGeom>
          <a:noFill/>
        </p:spPr>
        <p:txBody>
          <a:bodyPr wrap="square" rtlCol="0" anchor="ctr">
            <a:spAutoFit/>
          </a:bodyPr>
          <a:lstStyle/>
          <a:p>
            <a:pPr algn="ctr"/>
            <a:r>
              <a:rPr lang="en-US" sz="2000" dirty="0">
                <a:solidFill>
                  <a:srgbClr val="012855"/>
                </a:solidFill>
                <a:latin typeface="Helvetica Light" panose="020B0403020202020204" pitchFamily="34" charset="0"/>
              </a:rPr>
              <a:t>14</a:t>
            </a:r>
            <a:r>
              <a:rPr lang="tr-TR" sz="2000" dirty="0">
                <a:solidFill>
                  <a:srgbClr val="012855"/>
                </a:solidFill>
                <a:latin typeface="Helvetica Light" panose="020B0403020202020204" pitchFamily="34" charset="0"/>
              </a:rPr>
              <a:t>.</a:t>
            </a:r>
            <a:r>
              <a:rPr lang="en-US" sz="2000" dirty="0">
                <a:solidFill>
                  <a:srgbClr val="012855"/>
                </a:solidFill>
                <a:latin typeface="Helvetica Light" panose="020B0403020202020204" pitchFamily="34" charset="0"/>
              </a:rPr>
              <a:t>01</a:t>
            </a:r>
            <a:r>
              <a:rPr lang="tr-TR" sz="2000" dirty="0">
                <a:solidFill>
                  <a:srgbClr val="012855"/>
                </a:solidFill>
                <a:latin typeface="Helvetica Light" panose="020B0403020202020204" pitchFamily="34" charset="0"/>
              </a:rPr>
              <a:t>.202</a:t>
            </a:r>
            <a:r>
              <a:rPr lang="en-US" sz="2000" dirty="0">
                <a:solidFill>
                  <a:srgbClr val="012855"/>
                </a:solidFill>
                <a:latin typeface="Helvetica Light" panose="020B0403020202020204" pitchFamily="34" charset="0"/>
              </a:rPr>
              <a:t>5</a:t>
            </a:r>
            <a:endParaRPr lang="tr-TR" sz="2000" dirty="0">
              <a:solidFill>
                <a:srgbClr val="012855"/>
              </a:solidFill>
              <a:latin typeface="Helvetica Light" panose="020B0403020202020204" pitchFamily="34" charset="0"/>
            </a:endParaRPr>
          </a:p>
        </p:txBody>
      </p:sp>
      <p:sp>
        <p:nvSpPr>
          <p:cNvPr id="4" name="Metin kutusu 3">
            <a:extLst>
              <a:ext uri="{FF2B5EF4-FFF2-40B4-BE49-F238E27FC236}">
                <a16:creationId xmlns:a16="http://schemas.microsoft.com/office/drawing/2014/main" id="{23E6549B-D32F-2612-8562-F92B956DE8A4}"/>
              </a:ext>
            </a:extLst>
          </p:cNvPr>
          <p:cNvSpPr txBox="1"/>
          <p:nvPr/>
        </p:nvSpPr>
        <p:spPr>
          <a:xfrm>
            <a:off x="2828676" y="5364202"/>
            <a:ext cx="6694399" cy="646331"/>
          </a:xfrm>
          <a:prstGeom prst="rect">
            <a:avLst/>
          </a:prstGeom>
          <a:noFill/>
        </p:spPr>
        <p:txBody>
          <a:bodyPr wrap="square" rtlCol="0" anchor="ctr">
            <a:spAutoFit/>
          </a:bodyPr>
          <a:lstStyle/>
          <a:p>
            <a:pPr algn="ctr"/>
            <a:r>
              <a:rPr lang="en-US" b="1" dirty="0">
                <a:solidFill>
                  <a:srgbClr val="012855"/>
                </a:solidFill>
                <a:latin typeface="Helvetica" pitchFamily="2" charset="0"/>
              </a:rPr>
              <a:t>704241020- Alper Berkin YAZICI</a:t>
            </a:r>
          </a:p>
          <a:p>
            <a:pPr algn="ctr"/>
            <a:r>
              <a:rPr lang="en-US" b="1" dirty="0">
                <a:solidFill>
                  <a:srgbClr val="012855"/>
                </a:solidFill>
                <a:latin typeface="Helvetica" pitchFamily="2" charset="0"/>
              </a:rPr>
              <a:t>704241023-Furkan GÜNEY</a:t>
            </a:r>
            <a:endParaRPr lang="tr-TR" b="1" dirty="0">
              <a:solidFill>
                <a:srgbClr val="012855"/>
              </a:solidFill>
              <a:latin typeface="Helvetica" pitchFamily="2" charset="0"/>
            </a:endParaRPr>
          </a:p>
        </p:txBody>
      </p:sp>
      <p:pic>
        <p:nvPicPr>
          <p:cNvPr id="5" name="Resim 4">
            <a:extLst>
              <a:ext uri="{FF2B5EF4-FFF2-40B4-BE49-F238E27FC236}">
                <a16:creationId xmlns:a16="http://schemas.microsoft.com/office/drawing/2014/main" id="{EA3395A2-CC1A-0CFE-AFA5-EA0A3F0EB9A6}"/>
              </a:ext>
            </a:extLst>
          </p:cNvPr>
          <p:cNvPicPr>
            <a:picLocks noChangeAspect="1"/>
          </p:cNvPicPr>
          <p:nvPr/>
        </p:nvPicPr>
        <p:blipFill>
          <a:blip r:embed="rId3"/>
          <a:stretch>
            <a:fillRect/>
          </a:stretch>
        </p:blipFill>
        <p:spPr>
          <a:xfrm>
            <a:off x="4977353" y="2655503"/>
            <a:ext cx="1743958" cy="2535857"/>
          </a:xfrm>
          <a:prstGeom prst="rect">
            <a:avLst/>
          </a:prstGeom>
        </p:spPr>
      </p:pic>
    </p:spTree>
    <p:extLst>
      <p:ext uri="{BB962C8B-B14F-4D97-AF65-F5344CB8AC3E}">
        <p14:creationId xmlns:p14="http://schemas.microsoft.com/office/powerpoint/2010/main" val="2749471360"/>
      </p:ext>
    </p:extLst>
  </p:cSld>
  <p:clrMapOvr>
    <a:masterClrMapping/>
  </p:clrMapOvr>
</p:sld>
</file>

<file path=ppt/theme/theme1.xml><?xml version="1.0" encoding="utf-8"?>
<a:theme xmlns:a="http://schemas.openxmlformats.org/drawingml/2006/main" name="Office Teması">
  <a:themeElements>
    <a:clrScheme name="Office Teması">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eması">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eması">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2351</TotalTime>
  <Words>632</Words>
  <Application>Microsoft Office PowerPoint</Application>
  <PresentationFormat>Geniş ekran</PresentationFormat>
  <Paragraphs>67</Paragraphs>
  <Slides>14</Slides>
  <Notes>0</Notes>
  <HiddenSlides>0</HiddenSlides>
  <MMClips>0</MMClips>
  <ScaleCrop>false</ScaleCrop>
  <HeadingPairs>
    <vt:vector size="6" baseType="variant">
      <vt:variant>
        <vt:lpstr>Kullanılan Yazı Tipleri</vt:lpstr>
      </vt:variant>
      <vt:variant>
        <vt:i4>4</vt:i4>
      </vt:variant>
      <vt:variant>
        <vt:lpstr>Tema</vt:lpstr>
      </vt:variant>
      <vt:variant>
        <vt:i4>1</vt:i4>
      </vt:variant>
      <vt:variant>
        <vt:lpstr>Slayt Başlıkları</vt:lpstr>
      </vt:variant>
      <vt:variant>
        <vt:i4>14</vt:i4>
      </vt:variant>
    </vt:vector>
  </HeadingPairs>
  <TitlesOfParts>
    <vt:vector size="19" baseType="lpstr">
      <vt:lpstr>Arial</vt:lpstr>
      <vt:lpstr>Calibri</vt:lpstr>
      <vt:lpstr>Helvetica</vt:lpstr>
      <vt:lpstr>Helvetica Light</vt:lpstr>
      <vt:lpstr>Office Teması</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Sunusu</dc:title>
  <dc:creator>Microsoft Office Kullanıcısı</dc:creator>
  <cp:lastModifiedBy>ALPER BERKİN YAZICI</cp:lastModifiedBy>
  <cp:revision>100</cp:revision>
  <dcterms:created xsi:type="dcterms:W3CDTF">2016-12-06T09:19:29Z</dcterms:created>
  <dcterms:modified xsi:type="dcterms:W3CDTF">2025-01-14T15:42:26Z</dcterms:modified>
</cp:coreProperties>
</file>